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71" r:id="rId3"/>
    <p:sldId id="256" r:id="rId4"/>
    <p:sldId id="257" r:id="rId5"/>
    <p:sldId id="258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1900"/>
    <a:srgbClr val="A03700"/>
    <a:srgbClr val="FF8214"/>
    <a:srgbClr val="2D2D2D"/>
    <a:srgbClr val="373737"/>
    <a:srgbClr val="E65F0A"/>
    <a:srgbClr val="FF8C19"/>
    <a:srgbClr val="FFB446"/>
    <a:srgbClr val="FF911E"/>
    <a:srgbClr val="FFCD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82" d="100"/>
          <a:sy n="82" d="100"/>
        </p:scale>
        <p:origin x="20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bg1"/>
                </a:solidFill>
              </a:rPr>
              <a:t>Sales by Age Group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539510950961637"/>
          <c:y val="0.11991052123751092"/>
          <c:w val="0.74914438661269034"/>
          <c:h val="0.7277542010939744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(bn)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26–35</c:v>
                </c:pt>
                <c:pt idx="1">
                  <c:v>36–45</c:v>
                </c:pt>
                <c:pt idx="2">
                  <c:v>18–25</c:v>
                </c:pt>
                <c:pt idx="3">
                  <c:v>46–50</c:v>
                </c:pt>
                <c:pt idx="4">
                  <c:v>51–55</c:v>
                </c:pt>
                <c:pt idx="5">
                  <c:v>55+</c:v>
                </c:pt>
                <c:pt idx="6">
                  <c:v>0–17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1</c:v>
                </c:pt>
                <c:pt idx="2">
                  <c:v>0.9</c:v>
                </c:pt>
                <c:pt idx="3">
                  <c:v>0.4</c:v>
                </c:pt>
                <c:pt idx="4">
                  <c:v>0.4</c:v>
                </c:pt>
                <c:pt idx="5">
                  <c:v>0.2</c:v>
                </c:pt>
                <c:pt idx="6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ED-40C7-B975-F0CA22114AF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26"/>
        <c:overlap val="-58"/>
        <c:axId val="1408138639"/>
        <c:axId val="254598735"/>
      </c:barChart>
      <c:catAx>
        <c:axId val="140813863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Age</a:t>
                </a:r>
                <a:r>
                  <a:rPr lang="en-US" baseline="0" dirty="0"/>
                  <a:t> Group</a:t>
                </a:r>
                <a:endParaRPr lang="en-IN" dirty="0"/>
              </a:p>
            </c:rich>
          </c:tx>
          <c:layout>
            <c:manualLayout>
              <c:xMode val="edge"/>
              <c:yMode val="edge"/>
              <c:x val="1.8753799842816259E-2"/>
              <c:y val="0.3740513283027412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15000"/>
                <a:lumOff val="8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4598735"/>
        <c:crosses val="autoZero"/>
        <c:auto val="1"/>
        <c:lblAlgn val="ctr"/>
        <c:lblOffset val="100"/>
        <c:noMultiLvlLbl val="0"/>
      </c:catAx>
      <c:valAx>
        <c:axId val="25459873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Sales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81386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>
                <a:solidFill>
                  <a:schemeClr val="bg1"/>
                </a:solidFill>
              </a:rPr>
              <a:t>SALES BY 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 (bn)</c:v>
                </c:pt>
              </c:strCache>
            </c:strRef>
          </c:tx>
          <c:dPt>
            <c:idx val="0"/>
            <c:bubble3D val="0"/>
            <c:spPr>
              <a:solidFill>
                <a:srgbClr val="FF6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4D1-4C3D-9EF2-11DA2A42E4F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4D1-4C3D-9EF2-11DA2A42E4F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4D1-4C3D-9EF2-11DA2A42E4F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4D1-4C3D-9EF2-11DA2A42E4F5}"/>
              </c:ext>
            </c:extLst>
          </c:dPt>
          <c:dLbls>
            <c:dLbl>
              <c:idx val="0"/>
              <c:layout>
                <c:manualLayout>
                  <c:x val="0.16382248157198631"/>
                  <c:y val="9.5805422726195244E-2"/>
                </c:manualLayout>
              </c:layout>
              <c:tx>
                <c:rich>
                  <a:bodyPr/>
                  <a:lstStyle/>
                  <a:p>
                    <a:r>
                      <a:rPr lang="en-US" sz="1400" b="1" dirty="0">
                        <a:solidFill>
                          <a:srgbClr val="FF6F00"/>
                        </a:solidFill>
                      </a:rPr>
                      <a:t>76.72%(4bn)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032428574231113"/>
                      <c:h val="0.13700175449845919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64D1-4C3D-9EF2-11DA2A42E4F5}"/>
                </c:ext>
              </c:extLst>
            </c:dLbl>
            <c:dLbl>
              <c:idx val="1"/>
              <c:layout>
                <c:manualLayout>
                  <c:x val="-0.17064841830415245"/>
                  <c:y val="-0.11238698543391995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400" b="1" dirty="0">
                        <a:solidFill>
                          <a:srgbClr val="8C2828"/>
                        </a:solidFill>
                      </a:rPr>
                      <a:t>23.28%(1bn)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858365306397217"/>
                      <c:h val="0.14068657844946669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64D1-4C3D-9EF2-11DA2A42E4F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4D1-4C3D-9EF2-11DA2A42E4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bg1"/>
                </a:solidFill>
              </a:rPr>
              <a:t>TOP OCCUPATION BY TOTAL 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4</c:v>
                </c:pt>
                <c:pt idx="1">
                  <c:v>0</c:v>
                </c:pt>
                <c:pt idx="2">
                  <c:v>7</c:v>
                </c:pt>
                <c:pt idx="3">
                  <c:v>1</c:v>
                </c:pt>
                <c:pt idx="4">
                  <c:v>17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0.67</c:v>
                </c:pt>
                <c:pt idx="1">
                  <c:v>0.64</c:v>
                </c:pt>
                <c:pt idx="2">
                  <c:v>0.55000000000000004</c:v>
                </c:pt>
                <c:pt idx="3">
                  <c:v>0.43</c:v>
                </c:pt>
                <c:pt idx="4">
                  <c:v>0.39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5B-4884-A3DA-331879DFBF0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113804863"/>
        <c:axId val="1949071247"/>
      </c:barChart>
      <c:catAx>
        <c:axId val="211380486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Occupation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9071247"/>
        <c:crosses val="autoZero"/>
        <c:auto val="1"/>
        <c:lblAlgn val="ctr"/>
        <c:lblOffset val="100"/>
        <c:noMultiLvlLbl val="0"/>
      </c:catAx>
      <c:valAx>
        <c:axId val="194907124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Total Sales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38048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bg1"/>
                </a:solidFill>
              </a:rPr>
              <a:t>PURCHASE FREQUENCY</a:t>
            </a:r>
            <a:r>
              <a:rPr lang="en-US" b="1" baseline="0" dirty="0">
                <a:solidFill>
                  <a:schemeClr val="bg1"/>
                </a:solidFill>
              </a:rPr>
              <a:t> BY AGE</a:t>
            </a:r>
            <a:endParaRPr lang="en-US" b="1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Frequency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843-4DA3-86D9-A278F63EF6E9}"/>
              </c:ext>
            </c:extLst>
          </c:dPt>
          <c:dLbls>
            <c:dLbl>
              <c:idx val="0"/>
              <c:layout>
                <c:manualLayout>
                  <c:x val="0.40157495470080534"/>
                  <c:y val="-1.554886736601880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843-4DA3-86D9-A278F63EF6E9}"/>
                </c:ext>
              </c:extLst>
            </c:dLbl>
            <c:dLbl>
              <c:idx val="1"/>
              <c:layout>
                <c:manualLayout>
                  <c:x val="0.36665539342247444"/>
                  <c:y val="3.887216841504630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843-4DA3-86D9-A278F63EF6E9}"/>
                </c:ext>
              </c:extLst>
            </c:dLbl>
            <c:dLbl>
              <c:idx val="2"/>
              <c:layout>
                <c:manualLayout>
                  <c:x val="0.3596714811668081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843-4DA3-86D9-A278F63EF6E9}"/>
                </c:ext>
              </c:extLst>
            </c:dLbl>
            <c:dLbl>
              <c:idx val="3"/>
              <c:layout>
                <c:manualLayout>
                  <c:x val="0.32475191988847735"/>
                  <c:y val="-7.77443368300940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843-4DA3-86D9-A278F63EF6E9}"/>
                </c:ext>
              </c:extLst>
            </c:dLbl>
            <c:dLbl>
              <c:idx val="4"/>
              <c:layout>
                <c:manualLayout>
                  <c:x val="0.30380018312147883"/>
                  <c:y val="-7.774433683009475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843-4DA3-86D9-A278F63EF6E9}"/>
                </c:ext>
              </c:extLst>
            </c:dLbl>
            <c:dLbl>
              <c:idx val="5"/>
              <c:layout>
                <c:manualLayout>
                  <c:x val="0.27237257797098102"/>
                  <c:y val="-3.5632409418492197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843-4DA3-86D9-A278F63EF6E9}"/>
                </c:ext>
              </c:extLst>
            </c:dLbl>
            <c:dLbl>
              <c:idx val="6"/>
              <c:layout>
                <c:manualLayout>
                  <c:x val="0.23570703862873357"/>
                  <c:y val="-7.77443368300940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843-4DA3-86D9-A278F63EF6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26–35</c:v>
                </c:pt>
                <c:pt idx="1">
                  <c:v>36–45</c:v>
                </c:pt>
                <c:pt idx="2">
                  <c:v>18–25</c:v>
                </c:pt>
                <c:pt idx="3">
                  <c:v>46–50</c:v>
                </c:pt>
                <c:pt idx="4">
                  <c:v>51–55</c:v>
                </c:pt>
                <c:pt idx="5">
                  <c:v>0-17</c:v>
                </c:pt>
                <c:pt idx="6">
                  <c:v>55+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107</c:v>
                </c:pt>
                <c:pt idx="1">
                  <c:v>94.3</c:v>
                </c:pt>
                <c:pt idx="2">
                  <c:v>93.2</c:v>
                </c:pt>
                <c:pt idx="3">
                  <c:v>86.1</c:v>
                </c:pt>
                <c:pt idx="4">
                  <c:v>80</c:v>
                </c:pt>
                <c:pt idx="5">
                  <c:v>69.3</c:v>
                </c:pt>
                <c:pt idx="6">
                  <c:v>57.8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43-4DA3-86D9-A278F63EF6E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113811823"/>
        <c:axId val="1949019887"/>
      </c:barChart>
      <c:catAx>
        <c:axId val="211381182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9019887"/>
        <c:crosses val="autoZero"/>
        <c:auto val="1"/>
        <c:lblAlgn val="ctr"/>
        <c:lblOffset val="100"/>
        <c:noMultiLvlLbl val="0"/>
      </c:catAx>
      <c:valAx>
        <c:axId val="194901988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Purchase Frequency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38118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bg1"/>
                </a:solidFill>
              </a:rPr>
              <a:t>TOP PRODUCT CATEGORIES BY SALE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(bn)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0DC-44A9-ABFE-7730F7DE617D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0DC-44A9-ABFE-7730F7DE617D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0DC-44A9-ABFE-7730F7DE617D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23C-4FC7-AE8D-86E68C94C6D2}"/>
              </c:ext>
            </c:extLst>
          </c:dPt>
          <c:dPt>
            <c:idx val="4"/>
            <c:invertIfNegative val="0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23C-4FC7-AE8D-86E68C94C6D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8</c:v>
                </c:pt>
                <c:pt idx="3">
                  <c:v>6</c:v>
                </c:pt>
                <c:pt idx="4">
                  <c:v>2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1.91</c:v>
                </c:pt>
                <c:pt idx="1">
                  <c:v>0.94</c:v>
                </c:pt>
                <c:pt idx="2">
                  <c:v>0.85</c:v>
                </c:pt>
                <c:pt idx="3">
                  <c:v>0.34</c:v>
                </c:pt>
                <c:pt idx="4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DC-44A9-ABFE-7730F7DE617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4477984"/>
        <c:axId val="1948939727"/>
      </c:barChart>
      <c:catAx>
        <c:axId val="1447798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Product Category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8939727"/>
        <c:crosses val="autoZero"/>
        <c:auto val="1"/>
        <c:lblAlgn val="ctr"/>
        <c:lblOffset val="100"/>
        <c:noMultiLvlLbl val="0"/>
      </c:catAx>
      <c:valAx>
        <c:axId val="194893972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Total Sales (bn)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77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99000">
              <a:schemeClr val="tx1">
                <a:lumMod val="25000"/>
                <a:lumOff val="75000"/>
              </a:schemeClr>
            </a:gs>
            <a:gs pos="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15000"/>
                <a:lumOff val="85000"/>
              </a:schemeClr>
            </a:gs>
            <a:gs pos="0">
              <a:schemeClr val="tx1">
                <a:lumMod val="5000"/>
                <a:lumOff val="9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85000"/>
                <a:lumOff val="15000"/>
              </a:schemeClr>
            </a:gs>
            <a:gs pos="92000">
              <a:schemeClr val="tx1">
                <a:lumMod val="95000"/>
                <a:lumOff val="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2FF1442C-1562-C43A-2204-71EED19F9A62}"/>
              </a:ext>
            </a:extLst>
          </p:cNvPr>
          <p:cNvSpPr txBox="1"/>
          <p:nvPr/>
        </p:nvSpPr>
        <p:spPr>
          <a:xfrm>
            <a:off x="-746760" y="2563503"/>
            <a:ext cx="13472160" cy="153888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0800">
              <a:bevelT h="63500"/>
            </a:sp3d>
          </a:bodyPr>
          <a:lstStyle/>
          <a:p>
            <a:pPr algn="ctr"/>
            <a:r>
              <a:rPr lang="en-US" sz="5400" b="1" spc="-300" dirty="0">
                <a:gradFill flip="none" rotWithShape="1">
                  <a:gsLst>
                    <a:gs pos="75000">
                      <a:srgbClr val="E65F0A"/>
                    </a:gs>
                    <a:gs pos="50000">
                      <a:srgbClr val="FFB446"/>
                    </a:gs>
                    <a:gs pos="25000">
                      <a:srgbClr val="FF8214"/>
                    </a:gs>
                    <a:gs pos="0">
                      <a:srgbClr val="2D2D2D"/>
                    </a:gs>
                    <a:gs pos="100000">
                      <a:srgbClr val="373737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FF8214">
                      <a:alpha val="30000"/>
                    </a:srgbClr>
                  </a:glow>
                  <a:outerShdw blurRad="101600" dist="50800" dir="5400000" algn="ctr" rotWithShape="0">
                    <a:schemeClr val="tx1">
                      <a:alpha val="70000"/>
                    </a:schemeClr>
                  </a:outerShdw>
                </a:effectLst>
                <a:latin typeface="Arial Black" panose="020B0A04020102020204" pitchFamily="34" charset="0"/>
              </a:rPr>
              <a:t>BLACK FRIDAY SALES ANALYSIS</a:t>
            </a:r>
          </a:p>
          <a:p>
            <a:pPr algn="ctr"/>
            <a:r>
              <a:rPr lang="en-US" sz="4000" b="1" spc="-300" dirty="0">
                <a:gradFill flip="none" rotWithShape="1">
                  <a:gsLst>
                    <a:gs pos="75000">
                      <a:srgbClr val="E65F0A"/>
                    </a:gs>
                    <a:gs pos="50000">
                      <a:srgbClr val="FFB446"/>
                    </a:gs>
                    <a:gs pos="25000">
                      <a:srgbClr val="FF8214"/>
                    </a:gs>
                    <a:gs pos="0">
                      <a:srgbClr val="2D2D2D"/>
                    </a:gs>
                    <a:gs pos="100000">
                      <a:srgbClr val="373737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FF8214">
                      <a:alpha val="30000"/>
                    </a:srgbClr>
                  </a:glow>
                  <a:outerShdw blurRad="101600" dist="50800" dir="5400000" algn="ctr" rotWithShape="0">
                    <a:schemeClr val="tx1">
                      <a:alpha val="70000"/>
                    </a:schemeClr>
                  </a:outerShdw>
                </a:effectLst>
                <a:latin typeface="Arial Black" panose="020B0A04020102020204" pitchFamily="34" charset="0"/>
              </a:rPr>
              <a:t>Prepared by – GOURAV MALLICK</a:t>
            </a:r>
            <a:endParaRPr lang="en-IN" sz="4000" b="1" spc="-300" dirty="0">
              <a:gradFill flip="none" rotWithShape="1">
                <a:gsLst>
                  <a:gs pos="75000">
                    <a:srgbClr val="E65F0A"/>
                  </a:gs>
                  <a:gs pos="50000">
                    <a:srgbClr val="FFB446"/>
                  </a:gs>
                  <a:gs pos="25000">
                    <a:srgbClr val="FF8214"/>
                  </a:gs>
                  <a:gs pos="0">
                    <a:srgbClr val="2D2D2D"/>
                  </a:gs>
                  <a:gs pos="100000">
                    <a:srgbClr val="373737"/>
                  </a:gs>
                </a:gsLst>
                <a:lin ang="5400000" scaled="1"/>
                <a:tileRect/>
              </a:gradFill>
              <a:effectLst>
                <a:glow rad="63500">
                  <a:srgbClr val="FF8214">
                    <a:alpha val="30000"/>
                  </a:srgbClr>
                </a:glow>
                <a:outerShdw blurRad="101600" dist="50800" dir="5400000" algn="ctr" rotWithShape="0">
                  <a:schemeClr val="tx1">
                    <a:alpha val="7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6F1F68BD-F8BC-ADCD-8049-52DFEA6F19DC}"/>
              </a:ext>
            </a:extLst>
          </p:cNvPr>
          <p:cNvSpPr/>
          <p:nvPr/>
        </p:nvSpPr>
        <p:spPr>
          <a:xfrm>
            <a:off x="0" y="0"/>
            <a:ext cx="8425271" cy="6858000"/>
          </a:xfrm>
          <a:custGeom>
            <a:avLst/>
            <a:gdLst>
              <a:gd name="csX0" fmla="*/ 0 w 8425271"/>
              <a:gd name="csY0" fmla="*/ 0 h 6858000"/>
              <a:gd name="csX1" fmla="*/ 1888031 w 8425271"/>
              <a:gd name="csY1" fmla="*/ 0 h 6858000"/>
              <a:gd name="csX2" fmla="*/ 1962388 w 8425271"/>
              <a:gd name="csY2" fmla="*/ 74235 h 6858000"/>
              <a:gd name="csX3" fmla="*/ 2346960 w 8425271"/>
              <a:gd name="csY3" fmla="*/ 609600 h 6858000"/>
              <a:gd name="csX4" fmla="*/ 2042160 w 8425271"/>
              <a:gd name="csY4" fmla="*/ 3048000 h 6858000"/>
              <a:gd name="csX5" fmla="*/ 5806440 w 8425271"/>
              <a:gd name="csY5" fmla="*/ 4389120 h 6858000"/>
              <a:gd name="csX6" fmla="*/ 4876800 w 8425271"/>
              <a:gd name="csY6" fmla="*/ 5913120 h 6858000"/>
              <a:gd name="csX7" fmla="*/ 8077200 w 8425271"/>
              <a:gd name="csY7" fmla="*/ 6400800 h 6858000"/>
              <a:gd name="csX8" fmla="*/ 8406668 w 8425271"/>
              <a:gd name="csY8" fmla="*/ 6792451 h 6858000"/>
              <a:gd name="csX9" fmla="*/ 8425271 w 8425271"/>
              <a:gd name="csY9" fmla="*/ 6858000 h 6858000"/>
              <a:gd name="csX10" fmla="*/ 0 w 8425271"/>
              <a:gd name="csY10" fmla="*/ 6858000 h 6858000"/>
              <a:gd name="csX11" fmla="*/ 0 w 8425271"/>
              <a:gd name="csY11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8425271" h="6858000">
                <a:moveTo>
                  <a:pt x="0" y="0"/>
                </a:moveTo>
                <a:lnTo>
                  <a:pt x="1888031" y="0"/>
                </a:lnTo>
                <a:lnTo>
                  <a:pt x="1962388" y="74235"/>
                </a:lnTo>
                <a:cubicBezTo>
                  <a:pt x="2126298" y="246936"/>
                  <a:pt x="2258060" y="424815"/>
                  <a:pt x="2346960" y="609600"/>
                </a:cubicBezTo>
                <a:cubicBezTo>
                  <a:pt x="2702560" y="1348740"/>
                  <a:pt x="1465580" y="2418080"/>
                  <a:pt x="2042160" y="3048000"/>
                </a:cubicBezTo>
                <a:cubicBezTo>
                  <a:pt x="2618740" y="3677920"/>
                  <a:pt x="5334000" y="3911600"/>
                  <a:pt x="5806440" y="4389120"/>
                </a:cubicBezTo>
                <a:cubicBezTo>
                  <a:pt x="6278880" y="4866640"/>
                  <a:pt x="4498340" y="5577840"/>
                  <a:pt x="4876800" y="5913120"/>
                </a:cubicBezTo>
                <a:cubicBezTo>
                  <a:pt x="5255260" y="6248400"/>
                  <a:pt x="7543800" y="6083300"/>
                  <a:pt x="8077200" y="6400800"/>
                </a:cubicBezTo>
                <a:cubicBezTo>
                  <a:pt x="8243888" y="6500019"/>
                  <a:pt x="8351540" y="6637933"/>
                  <a:pt x="8406668" y="6792451"/>
                </a:cubicBezTo>
                <a:lnTo>
                  <a:pt x="842527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1270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DBC2B58-7026-05F4-C14E-608F7E04D764}"/>
              </a:ext>
            </a:extLst>
          </p:cNvPr>
          <p:cNvSpPr/>
          <p:nvPr/>
        </p:nvSpPr>
        <p:spPr>
          <a:xfrm>
            <a:off x="-958895" y="0"/>
            <a:ext cx="8425271" cy="6858000"/>
          </a:xfrm>
          <a:custGeom>
            <a:avLst/>
            <a:gdLst>
              <a:gd name="csX0" fmla="*/ 0 w 8425271"/>
              <a:gd name="csY0" fmla="*/ 0 h 6858000"/>
              <a:gd name="csX1" fmla="*/ 1888031 w 8425271"/>
              <a:gd name="csY1" fmla="*/ 0 h 6858000"/>
              <a:gd name="csX2" fmla="*/ 1962388 w 8425271"/>
              <a:gd name="csY2" fmla="*/ 74235 h 6858000"/>
              <a:gd name="csX3" fmla="*/ 2346960 w 8425271"/>
              <a:gd name="csY3" fmla="*/ 609600 h 6858000"/>
              <a:gd name="csX4" fmla="*/ 2042160 w 8425271"/>
              <a:gd name="csY4" fmla="*/ 3048000 h 6858000"/>
              <a:gd name="csX5" fmla="*/ 5806440 w 8425271"/>
              <a:gd name="csY5" fmla="*/ 4389120 h 6858000"/>
              <a:gd name="csX6" fmla="*/ 4876800 w 8425271"/>
              <a:gd name="csY6" fmla="*/ 5913120 h 6858000"/>
              <a:gd name="csX7" fmla="*/ 8077200 w 8425271"/>
              <a:gd name="csY7" fmla="*/ 6400800 h 6858000"/>
              <a:gd name="csX8" fmla="*/ 8406668 w 8425271"/>
              <a:gd name="csY8" fmla="*/ 6792451 h 6858000"/>
              <a:gd name="csX9" fmla="*/ 8425271 w 8425271"/>
              <a:gd name="csY9" fmla="*/ 6858000 h 6858000"/>
              <a:gd name="csX10" fmla="*/ 0 w 8425271"/>
              <a:gd name="csY10" fmla="*/ 6858000 h 6858000"/>
              <a:gd name="csX11" fmla="*/ 0 w 8425271"/>
              <a:gd name="csY11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8425271" h="6858000">
                <a:moveTo>
                  <a:pt x="0" y="0"/>
                </a:moveTo>
                <a:lnTo>
                  <a:pt x="1888031" y="0"/>
                </a:lnTo>
                <a:lnTo>
                  <a:pt x="1962388" y="74235"/>
                </a:lnTo>
                <a:cubicBezTo>
                  <a:pt x="2126298" y="246936"/>
                  <a:pt x="2258060" y="424815"/>
                  <a:pt x="2346960" y="609600"/>
                </a:cubicBezTo>
                <a:cubicBezTo>
                  <a:pt x="2702560" y="1348740"/>
                  <a:pt x="1465580" y="2418080"/>
                  <a:pt x="2042160" y="3048000"/>
                </a:cubicBezTo>
                <a:cubicBezTo>
                  <a:pt x="2618740" y="3677920"/>
                  <a:pt x="5334000" y="3911600"/>
                  <a:pt x="5806440" y="4389120"/>
                </a:cubicBezTo>
                <a:cubicBezTo>
                  <a:pt x="6278880" y="4866640"/>
                  <a:pt x="4498340" y="5577840"/>
                  <a:pt x="4876800" y="5913120"/>
                </a:cubicBezTo>
                <a:cubicBezTo>
                  <a:pt x="5255260" y="6248400"/>
                  <a:pt x="7543800" y="6083300"/>
                  <a:pt x="8077200" y="6400800"/>
                </a:cubicBezTo>
                <a:cubicBezTo>
                  <a:pt x="8243888" y="6500019"/>
                  <a:pt x="8351540" y="6637933"/>
                  <a:pt x="8406668" y="6792451"/>
                </a:cubicBezTo>
                <a:lnTo>
                  <a:pt x="842527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</a:gsLst>
          </a:gradFill>
          <a:ln>
            <a:noFill/>
          </a:ln>
          <a:effectLst>
            <a:outerShdw blurRad="63500" dist="76200" dir="5400000" algn="t" rotWithShape="0">
              <a:schemeClr val="accent6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DB16B02-BE35-AB5E-318C-35F1AC02A711}"/>
              </a:ext>
            </a:extLst>
          </p:cNvPr>
          <p:cNvSpPr/>
          <p:nvPr/>
        </p:nvSpPr>
        <p:spPr>
          <a:xfrm>
            <a:off x="4465320" y="0"/>
            <a:ext cx="7726680" cy="6858000"/>
          </a:xfrm>
          <a:custGeom>
            <a:avLst/>
            <a:gdLst>
              <a:gd name="csX0" fmla="*/ 1546 w 10305515"/>
              <a:gd name="csY0" fmla="*/ 0 h 6858000"/>
              <a:gd name="csX1" fmla="*/ 10305515 w 10305515"/>
              <a:gd name="csY1" fmla="*/ 0 h 6858000"/>
              <a:gd name="csX2" fmla="*/ 10305515 w 10305515"/>
              <a:gd name="csY2" fmla="*/ 6858000 h 6858000"/>
              <a:gd name="csX3" fmla="*/ 6538786 w 10305515"/>
              <a:gd name="csY3" fmla="*/ 6858000 h 6858000"/>
              <a:gd name="csX4" fmla="*/ 6520183 w 10305515"/>
              <a:gd name="csY4" fmla="*/ 6792451 h 6858000"/>
              <a:gd name="csX5" fmla="*/ 6190715 w 10305515"/>
              <a:gd name="csY5" fmla="*/ 6400800 h 6858000"/>
              <a:gd name="csX6" fmla="*/ 2990315 w 10305515"/>
              <a:gd name="csY6" fmla="*/ 5913120 h 6858000"/>
              <a:gd name="csX7" fmla="*/ 3919955 w 10305515"/>
              <a:gd name="csY7" fmla="*/ 4389120 h 6858000"/>
              <a:gd name="csX8" fmla="*/ 155675 w 10305515"/>
              <a:gd name="csY8" fmla="*/ 3048000 h 6858000"/>
              <a:gd name="csX9" fmla="*/ 460475 w 10305515"/>
              <a:gd name="csY9" fmla="*/ 609600 h 6858000"/>
              <a:gd name="csX10" fmla="*/ 75903 w 10305515"/>
              <a:gd name="csY10" fmla="*/ 74235 h 6858000"/>
              <a:gd name="csX11" fmla="*/ 1546 w 10305515"/>
              <a:gd name="csY11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0305515" h="6858000">
                <a:moveTo>
                  <a:pt x="1546" y="0"/>
                </a:moveTo>
                <a:lnTo>
                  <a:pt x="10305515" y="0"/>
                </a:lnTo>
                <a:lnTo>
                  <a:pt x="10305515" y="6858000"/>
                </a:lnTo>
                <a:lnTo>
                  <a:pt x="6538786" y="6858000"/>
                </a:lnTo>
                <a:lnTo>
                  <a:pt x="6520183" y="6792451"/>
                </a:lnTo>
                <a:cubicBezTo>
                  <a:pt x="6465055" y="6637933"/>
                  <a:pt x="6357403" y="6500019"/>
                  <a:pt x="6190715" y="6400800"/>
                </a:cubicBezTo>
                <a:cubicBezTo>
                  <a:pt x="5657315" y="6083300"/>
                  <a:pt x="3368775" y="6248400"/>
                  <a:pt x="2990315" y="5913120"/>
                </a:cubicBezTo>
                <a:cubicBezTo>
                  <a:pt x="2611855" y="5577840"/>
                  <a:pt x="4392395" y="4866640"/>
                  <a:pt x="3919955" y="4389120"/>
                </a:cubicBezTo>
                <a:cubicBezTo>
                  <a:pt x="3447515" y="3911600"/>
                  <a:pt x="732255" y="3677920"/>
                  <a:pt x="155675" y="3048000"/>
                </a:cubicBezTo>
                <a:cubicBezTo>
                  <a:pt x="-420905" y="2418080"/>
                  <a:pt x="816075" y="1348740"/>
                  <a:pt x="460475" y="609600"/>
                </a:cubicBezTo>
                <a:cubicBezTo>
                  <a:pt x="371575" y="424815"/>
                  <a:pt x="239813" y="246936"/>
                  <a:pt x="75903" y="74235"/>
                </a:cubicBezTo>
                <a:lnTo>
                  <a:pt x="1546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38100" dist="50800" dir="5400000" algn="t" rotWithShape="0">
              <a:schemeClr val="tx1"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72ADE613-AC29-48BE-537E-1E382B15785F}"/>
              </a:ext>
            </a:extLst>
          </p:cNvPr>
          <p:cNvSpPr/>
          <p:nvPr/>
        </p:nvSpPr>
        <p:spPr>
          <a:xfrm>
            <a:off x="5669281" y="0"/>
            <a:ext cx="6522720" cy="6858000"/>
          </a:xfrm>
          <a:custGeom>
            <a:avLst/>
            <a:gdLst>
              <a:gd name="csX0" fmla="*/ 1546 w 10305515"/>
              <a:gd name="csY0" fmla="*/ 0 h 6858000"/>
              <a:gd name="csX1" fmla="*/ 10305515 w 10305515"/>
              <a:gd name="csY1" fmla="*/ 0 h 6858000"/>
              <a:gd name="csX2" fmla="*/ 10305515 w 10305515"/>
              <a:gd name="csY2" fmla="*/ 6858000 h 6858000"/>
              <a:gd name="csX3" fmla="*/ 6538786 w 10305515"/>
              <a:gd name="csY3" fmla="*/ 6858000 h 6858000"/>
              <a:gd name="csX4" fmla="*/ 6520183 w 10305515"/>
              <a:gd name="csY4" fmla="*/ 6792451 h 6858000"/>
              <a:gd name="csX5" fmla="*/ 6190715 w 10305515"/>
              <a:gd name="csY5" fmla="*/ 6400800 h 6858000"/>
              <a:gd name="csX6" fmla="*/ 2990315 w 10305515"/>
              <a:gd name="csY6" fmla="*/ 5913120 h 6858000"/>
              <a:gd name="csX7" fmla="*/ 3919955 w 10305515"/>
              <a:gd name="csY7" fmla="*/ 4389120 h 6858000"/>
              <a:gd name="csX8" fmla="*/ 155675 w 10305515"/>
              <a:gd name="csY8" fmla="*/ 3048000 h 6858000"/>
              <a:gd name="csX9" fmla="*/ 460475 w 10305515"/>
              <a:gd name="csY9" fmla="*/ 609600 h 6858000"/>
              <a:gd name="csX10" fmla="*/ 75903 w 10305515"/>
              <a:gd name="csY10" fmla="*/ 74235 h 6858000"/>
              <a:gd name="csX11" fmla="*/ 1546 w 10305515"/>
              <a:gd name="csY11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0305515" h="6858000">
                <a:moveTo>
                  <a:pt x="1546" y="0"/>
                </a:moveTo>
                <a:lnTo>
                  <a:pt x="10305515" y="0"/>
                </a:lnTo>
                <a:lnTo>
                  <a:pt x="10305515" y="6858000"/>
                </a:lnTo>
                <a:lnTo>
                  <a:pt x="6538786" y="6858000"/>
                </a:lnTo>
                <a:lnTo>
                  <a:pt x="6520183" y="6792451"/>
                </a:lnTo>
                <a:cubicBezTo>
                  <a:pt x="6465055" y="6637933"/>
                  <a:pt x="6357403" y="6500019"/>
                  <a:pt x="6190715" y="6400800"/>
                </a:cubicBezTo>
                <a:cubicBezTo>
                  <a:pt x="5657315" y="6083300"/>
                  <a:pt x="3368775" y="6248400"/>
                  <a:pt x="2990315" y="5913120"/>
                </a:cubicBezTo>
                <a:cubicBezTo>
                  <a:pt x="2611855" y="5577840"/>
                  <a:pt x="4392395" y="4866640"/>
                  <a:pt x="3919955" y="4389120"/>
                </a:cubicBezTo>
                <a:cubicBezTo>
                  <a:pt x="3447515" y="3911600"/>
                  <a:pt x="732255" y="3677920"/>
                  <a:pt x="155675" y="3048000"/>
                </a:cubicBezTo>
                <a:cubicBezTo>
                  <a:pt x="-420905" y="2418080"/>
                  <a:pt x="816075" y="1348740"/>
                  <a:pt x="460475" y="609600"/>
                </a:cubicBezTo>
                <a:cubicBezTo>
                  <a:pt x="371575" y="424815"/>
                  <a:pt x="239813" y="246936"/>
                  <a:pt x="75903" y="74235"/>
                </a:cubicBezTo>
                <a:lnTo>
                  <a:pt x="1546" y="0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2"/>
              </a:gs>
            </a:gsLst>
          </a:gradFill>
          <a:ln>
            <a:noFill/>
          </a:ln>
          <a:effectLst>
            <a:outerShdw blurRad="38100" dist="50800" dir="5400000" algn="t" rotWithShape="0">
              <a:schemeClr val="accent6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4461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85000"/>
                <a:lumOff val="15000"/>
              </a:schemeClr>
            </a:gs>
            <a:gs pos="92000">
              <a:schemeClr val="tx1">
                <a:lumMod val="95000"/>
                <a:lumOff val="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3C9E9B-0220-157D-F0BB-CFC1FD03E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3FB76572-E229-2843-5375-0CB4AFC31891}"/>
              </a:ext>
            </a:extLst>
          </p:cNvPr>
          <p:cNvSpPr txBox="1"/>
          <p:nvPr/>
        </p:nvSpPr>
        <p:spPr>
          <a:xfrm>
            <a:off x="-746760" y="2563503"/>
            <a:ext cx="13472160" cy="153888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63500">
              <a:bevelT h="63500"/>
            </a:sp3d>
          </a:bodyPr>
          <a:lstStyle/>
          <a:p>
            <a:pPr algn="ctr"/>
            <a:r>
              <a:rPr lang="en-US" sz="5400" b="1" spc="-300" dirty="0">
                <a:gradFill flip="none" rotWithShape="1">
                  <a:gsLst>
                    <a:gs pos="75000">
                      <a:srgbClr val="E65F0A"/>
                    </a:gs>
                    <a:gs pos="50000">
                      <a:srgbClr val="FFB446"/>
                    </a:gs>
                    <a:gs pos="25000">
                      <a:srgbClr val="FF8214"/>
                    </a:gs>
                    <a:gs pos="0">
                      <a:srgbClr val="2D2D2D"/>
                    </a:gs>
                    <a:gs pos="100000">
                      <a:srgbClr val="373737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FF8214">
                      <a:alpha val="30000"/>
                    </a:srgbClr>
                  </a:glow>
                  <a:outerShdw blurRad="101600" dist="50800" dir="5400000" algn="ctr" rotWithShape="0">
                    <a:schemeClr val="tx1">
                      <a:alpha val="70000"/>
                    </a:schemeClr>
                  </a:outerShdw>
                </a:effectLst>
                <a:latin typeface="Arial Black" panose="020B0A04020102020204" pitchFamily="34" charset="0"/>
              </a:rPr>
              <a:t>BLACK FRIDAY SALES ANALYSIS</a:t>
            </a:r>
          </a:p>
          <a:p>
            <a:pPr algn="ctr"/>
            <a:r>
              <a:rPr lang="en-US" sz="4000" b="1" spc="-300" dirty="0">
                <a:gradFill flip="none" rotWithShape="1">
                  <a:gsLst>
                    <a:gs pos="75000">
                      <a:srgbClr val="E65F0A"/>
                    </a:gs>
                    <a:gs pos="50000">
                      <a:srgbClr val="FFB446"/>
                    </a:gs>
                    <a:gs pos="25000">
                      <a:srgbClr val="FF8214"/>
                    </a:gs>
                    <a:gs pos="0">
                      <a:srgbClr val="2D2D2D"/>
                    </a:gs>
                    <a:gs pos="100000">
                      <a:srgbClr val="373737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FF8214">
                      <a:alpha val="30000"/>
                    </a:srgbClr>
                  </a:glow>
                  <a:outerShdw blurRad="101600" dist="50800" dir="5400000" algn="ctr" rotWithShape="0">
                    <a:schemeClr val="tx1">
                      <a:alpha val="70000"/>
                    </a:schemeClr>
                  </a:outerShdw>
                </a:effectLst>
                <a:latin typeface="Arial Black" panose="020B0A04020102020204" pitchFamily="34" charset="0"/>
              </a:rPr>
              <a:t>Prepared by – GOURAV MALLICK</a:t>
            </a:r>
            <a:endParaRPr lang="en-IN" sz="4000" b="1" spc="-300" dirty="0">
              <a:gradFill flip="none" rotWithShape="1">
                <a:gsLst>
                  <a:gs pos="75000">
                    <a:srgbClr val="E65F0A"/>
                  </a:gs>
                  <a:gs pos="50000">
                    <a:srgbClr val="FFB446"/>
                  </a:gs>
                  <a:gs pos="25000">
                    <a:srgbClr val="FF8214"/>
                  </a:gs>
                  <a:gs pos="0">
                    <a:srgbClr val="2D2D2D"/>
                  </a:gs>
                  <a:gs pos="100000">
                    <a:srgbClr val="373737"/>
                  </a:gs>
                </a:gsLst>
                <a:lin ang="5400000" scaled="1"/>
                <a:tileRect/>
              </a:gradFill>
              <a:effectLst>
                <a:glow rad="63500">
                  <a:srgbClr val="FF8214">
                    <a:alpha val="30000"/>
                  </a:srgbClr>
                </a:glow>
                <a:outerShdw blurRad="101600" dist="50800" dir="5400000" algn="ctr" rotWithShape="0">
                  <a:schemeClr val="tx1">
                    <a:alpha val="7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67CF4F57-28EC-C0D4-7674-36A0137DC226}"/>
              </a:ext>
            </a:extLst>
          </p:cNvPr>
          <p:cNvSpPr/>
          <p:nvPr/>
        </p:nvSpPr>
        <p:spPr>
          <a:xfrm>
            <a:off x="-640080" y="0"/>
            <a:ext cx="3992880" cy="8763000"/>
          </a:xfrm>
          <a:custGeom>
            <a:avLst/>
            <a:gdLst>
              <a:gd name="csX0" fmla="*/ 0 w 8425271"/>
              <a:gd name="csY0" fmla="*/ 0 h 6858000"/>
              <a:gd name="csX1" fmla="*/ 1888031 w 8425271"/>
              <a:gd name="csY1" fmla="*/ 0 h 6858000"/>
              <a:gd name="csX2" fmla="*/ 1962388 w 8425271"/>
              <a:gd name="csY2" fmla="*/ 74235 h 6858000"/>
              <a:gd name="csX3" fmla="*/ 2346960 w 8425271"/>
              <a:gd name="csY3" fmla="*/ 609600 h 6858000"/>
              <a:gd name="csX4" fmla="*/ 2042160 w 8425271"/>
              <a:gd name="csY4" fmla="*/ 3048000 h 6858000"/>
              <a:gd name="csX5" fmla="*/ 5806440 w 8425271"/>
              <a:gd name="csY5" fmla="*/ 4389120 h 6858000"/>
              <a:gd name="csX6" fmla="*/ 4876800 w 8425271"/>
              <a:gd name="csY6" fmla="*/ 5913120 h 6858000"/>
              <a:gd name="csX7" fmla="*/ 8077200 w 8425271"/>
              <a:gd name="csY7" fmla="*/ 6400800 h 6858000"/>
              <a:gd name="csX8" fmla="*/ 8406668 w 8425271"/>
              <a:gd name="csY8" fmla="*/ 6792451 h 6858000"/>
              <a:gd name="csX9" fmla="*/ 8425271 w 8425271"/>
              <a:gd name="csY9" fmla="*/ 6858000 h 6858000"/>
              <a:gd name="csX10" fmla="*/ 0 w 8425271"/>
              <a:gd name="csY10" fmla="*/ 6858000 h 6858000"/>
              <a:gd name="csX11" fmla="*/ 0 w 8425271"/>
              <a:gd name="csY11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8425271" h="6858000">
                <a:moveTo>
                  <a:pt x="0" y="0"/>
                </a:moveTo>
                <a:lnTo>
                  <a:pt x="1888031" y="0"/>
                </a:lnTo>
                <a:lnTo>
                  <a:pt x="1962388" y="74235"/>
                </a:lnTo>
                <a:cubicBezTo>
                  <a:pt x="2126298" y="246936"/>
                  <a:pt x="2258060" y="424815"/>
                  <a:pt x="2346960" y="609600"/>
                </a:cubicBezTo>
                <a:cubicBezTo>
                  <a:pt x="2702560" y="1348740"/>
                  <a:pt x="1465580" y="2418080"/>
                  <a:pt x="2042160" y="3048000"/>
                </a:cubicBezTo>
                <a:cubicBezTo>
                  <a:pt x="2618740" y="3677920"/>
                  <a:pt x="5334000" y="3911600"/>
                  <a:pt x="5806440" y="4389120"/>
                </a:cubicBezTo>
                <a:cubicBezTo>
                  <a:pt x="6278880" y="4866640"/>
                  <a:pt x="4498340" y="5577840"/>
                  <a:pt x="4876800" y="5913120"/>
                </a:cubicBezTo>
                <a:cubicBezTo>
                  <a:pt x="5255260" y="6248400"/>
                  <a:pt x="7543800" y="6083300"/>
                  <a:pt x="8077200" y="6400800"/>
                </a:cubicBezTo>
                <a:cubicBezTo>
                  <a:pt x="8243888" y="6500019"/>
                  <a:pt x="8351540" y="6637933"/>
                  <a:pt x="8406668" y="6792451"/>
                </a:cubicBezTo>
                <a:lnTo>
                  <a:pt x="842527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1270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0FB4CE78-F592-825B-24CD-9262C9CFC079}"/>
              </a:ext>
            </a:extLst>
          </p:cNvPr>
          <p:cNvSpPr/>
          <p:nvPr/>
        </p:nvSpPr>
        <p:spPr>
          <a:xfrm>
            <a:off x="-1507535" y="0"/>
            <a:ext cx="6125255" cy="8763000"/>
          </a:xfrm>
          <a:custGeom>
            <a:avLst/>
            <a:gdLst>
              <a:gd name="csX0" fmla="*/ 0 w 8425271"/>
              <a:gd name="csY0" fmla="*/ 0 h 6858000"/>
              <a:gd name="csX1" fmla="*/ 1888031 w 8425271"/>
              <a:gd name="csY1" fmla="*/ 0 h 6858000"/>
              <a:gd name="csX2" fmla="*/ 1962388 w 8425271"/>
              <a:gd name="csY2" fmla="*/ 74235 h 6858000"/>
              <a:gd name="csX3" fmla="*/ 2346960 w 8425271"/>
              <a:gd name="csY3" fmla="*/ 609600 h 6858000"/>
              <a:gd name="csX4" fmla="*/ 2042160 w 8425271"/>
              <a:gd name="csY4" fmla="*/ 3048000 h 6858000"/>
              <a:gd name="csX5" fmla="*/ 5806440 w 8425271"/>
              <a:gd name="csY5" fmla="*/ 4389120 h 6858000"/>
              <a:gd name="csX6" fmla="*/ 4876800 w 8425271"/>
              <a:gd name="csY6" fmla="*/ 5913120 h 6858000"/>
              <a:gd name="csX7" fmla="*/ 8077200 w 8425271"/>
              <a:gd name="csY7" fmla="*/ 6400800 h 6858000"/>
              <a:gd name="csX8" fmla="*/ 8406668 w 8425271"/>
              <a:gd name="csY8" fmla="*/ 6792451 h 6858000"/>
              <a:gd name="csX9" fmla="*/ 8425271 w 8425271"/>
              <a:gd name="csY9" fmla="*/ 6858000 h 6858000"/>
              <a:gd name="csX10" fmla="*/ 0 w 8425271"/>
              <a:gd name="csY10" fmla="*/ 6858000 h 6858000"/>
              <a:gd name="csX11" fmla="*/ 0 w 8425271"/>
              <a:gd name="csY11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8425271" h="6858000">
                <a:moveTo>
                  <a:pt x="0" y="0"/>
                </a:moveTo>
                <a:lnTo>
                  <a:pt x="1888031" y="0"/>
                </a:lnTo>
                <a:lnTo>
                  <a:pt x="1962388" y="74235"/>
                </a:lnTo>
                <a:cubicBezTo>
                  <a:pt x="2126298" y="246936"/>
                  <a:pt x="2258060" y="424815"/>
                  <a:pt x="2346960" y="609600"/>
                </a:cubicBezTo>
                <a:cubicBezTo>
                  <a:pt x="2702560" y="1348740"/>
                  <a:pt x="1465580" y="2418080"/>
                  <a:pt x="2042160" y="3048000"/>
                </a:cubicBezTo>
                <a:cubicBezTo>
                  <a:pt x="2618740" y="3677920"/>
                  <a:pt x="5334000" y="3911600"/>
                  <a:pt x="5806440" y="4389120"/>
                </a:cubicBezTo>
                <a:cubicBezTo>
                  <a:pt x="6278880" y="4866640"/>
                  <a:pt x="4498340" y="5577840"/>
                  <a:pt x="4876800" y="5913120"/>
                </a:cubicBezTo>
                <a:cubicBezTo>
                  <a:pt x="5255260" y="6248400"/>
                  <a:pt x="7543800" y="6083300"/>
                  <a:pt x="8077200" y="6400800"/>
                </a:cubicBezTo>
                <a:cubicBezTo>
                  <a:pt x="8243888" y="6500019"/>
                  <a:pt x="8351540" y="6637933"/>
                  <a:pt x="8406668" y="6792451"/>
                </a:cubicBezTo>
                <a:lnTo>
                  <a:pt x="842527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</a:gsLst>
          </a:gradFill>
          <a:ln>
            <a:noFill/>
          </a:ln>
          <a:effectLst>
            <a:outerShdw blurRad="63500" dist="76200" dir="5400000" algn="t" rotWithShape="0">
              <a:schemeClr val="accent6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618B302D-0A4E-7AF3-BCD6-A58103B50608}"/>
              </a:ext>
            </a:extLst>
          </p:cNvPr>
          <p:cNvSpPr/>
          <p:nvPr/>
        </p:nvSpPr>
        <p:spPr>
          <a:xfrm>
            <a:off x="9800544" y="-4378317"/>
            <a:ext cx="5849711" cy="11871960"/>
          </a:xfrm>
          <a:custGeom>
            <a:avLst/>
            <a:gdLst>
              <a:gd name="csX0" fmla="*/ 1546 w 10305515"/>
              <a:gd name="csY0" fmla="*/ 0 h 6858000"/>
              <a:gd name="csX1" fmla="*/ 10305515 w 10305515"/>
              <a:gd name="csY1" fmla="*/ 0 h 6858000"/>
              <a:gd name="csX2" fmla="*/ 10305515 w 10305515"/>
              <a:gd name="csY2" fmla="*/ 6858000 h 6858000"/>
              <a:gd name="csX3" fmla="*/ 6538786 w 10305515"/>
              <a:gd name="csY3" fmla="*/ 6858000 h 6858000"/>
              <a:gd name="csX4" fmla="*/ 6520183 w 10305515"/>
              <a:gd name="csY4" fmla="*/ 6792451 h 6858000"/>
              <a:gd name="csX5" fmla="*/ 6190715 w 10305515"/>
              <a:gd name="csY5" fmla="*/ 6400800 h 6858000"/>
              <a:gd name="csX6" fmla="*/ 2990315 w 10305515"/>
              <a:gd name="csY6" fmla="*/ 5913120 h 6858000"/>
              <a:gd name="csX7" fmla="*/ 3919955 w 10305515"/>
              <a:gd name="csY7" fmla="*/ 4389120 h 6858000"/>
              <a:gd name="csX8" fmla="*/ 155675 w 10305515"/>
              <a:gd name="csY8" fmla="*/ 3048000 h 6858000"/>
              <a:gd name="csX9" fmla="*/ 460475 w 10305515"/>
              <a:gd name="csY9" fmla="*/ 609600 h 6858000"/>
              <a:gd name="csX10" fmla="*/ 75903 w 10305515"/>
              <a:gd name="csY10" fmla="*/ 74235 h 6858000"/>
              <a:gd name="csX11" fmla="*/ 1546 w 10305515"/>
              <a:gd name="csY11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0305515" h="6858000">
                <a:moveTo>
                  <a:pt x="1546" y="0"/>
                </a:moveTo>
                <a:lnTo>
                  <a:pt x="10305515" y="0"/>
                </a:lnTo>
                <a:lnTo>
                  <a:pt x="10305515" y="6858000"/>
                </a:lnTo>
                <a:lnTo>
                  <a:pt x="6538786" y="6858000"/>
                </a:lnTo>
                <a:lnTo>
                  <a:pt x="6520183" y="6792451"/>
                </a:lnTo>
                <a:cubicBezTo>
                  <a:pt x="6465055" y="6637933"/>
                  <a:pt x="6357403" y="6500019"/>
                  <a:pt x="6190715" y="6400800"/>
                </a:cubicBezTo>
                <a:cubicBezTo>
                  <a:pt x="5657315" y="6083300"/>
                  <a:pt x="3368775" y="6248400"/>
                  <a:pt x="2990315" y="5913120"/>
                </a:cubicBezTo>
                <a:cubicBezTo>
                  <a:pt x="2611855" y="5577840"/>
                  <a:pt x="4392395" y="4866640"/>
                  <a:pt x="3919955" y="4389120"/>
                </a:cubicBezTo>
                <a:cubicBezTo>
                  <a:pt x="3447515" y="3911600"/>
                  <a:pt x="732255" y="3677920"/>
                  <a:pt x="155675" y="3048000"/>
                </a:cubicBezTo>
                <a:cubicBezTo>
                  <a:pt x="-420905" y="2418080"/>
                  <a:pt x="816075" y="1348740"/>
                  <a:pt x="460475" y="609600"/>
                </a:cubicBezTo>
                <a:cubicBezTo>
                  <a:pt x="371575" y="424815"/>
                  <a:pt x="239813" y="246936"/>
                  <a:pt x="75903" y="74235"/>
                </a:cubicBezTo>
                <a:lnTo>
                  <a:pt x="1546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38100" dist="50800" dir="5400000" algn="t" rotWithShape="0">
              <a:schemeClr val="tx1"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801D94E6-67BB-4830-D54A-A4FD4CAE8151}"/>
              </a:ext>
            </a:extLst>
          </p:cNvPr>
          <p:cNvSpPr/>
          <p:nvPr/>
        </p:nvSpPr>
        <p:spPr>
          <a:xfrm>
            <a:off x="10210802" y="-5841357"/>
            <a:ext cx="5668054" cy="13335000"/>
          </a:xfrm>
          <a:custGeom>
            <a:avLst/>
            <a:gdLst>
              <a:gd name="csX0" fmla="*/ 1546 w 10305515"/>
              <a:gd name="csY0" fmla="*/ 0 h 6858000"/>
              <a:gd name="csX1" fmla="*/ 10305515 w 10305515"/>
              <a:gd name="csY1" fmla="*/ 0 h 6858000"/>
              <a:gd name="csX2" fmla="*/ 10305515 w 10305515"/>
              <a:gd name="csY2" fmla="*/ 6858000 h 6858000"/>
              <a:gd name="csX3" fmla="*/ 6538786 w 10305515"/>
              <a:gd name="csY3" fmla="*/ 6858000 h 6858000"/>
              <a:gd name="csX4" fmla="*/ 6520183 w 10305515"/>
              <a:gd name="csY4" fmla="*/ 6792451 h 6858000"/>
              <a:gd name="csX5" fmla="*/ 6190715 w 10305515"/>
              <a:gd name="csY5" fmla="*/ 6400800 h 6858000"/>
              <a:gd name="csX6" fmla="*/ 2990315 w 10305515"/>
              <a:gd name="csY6" fmla="*/ 5913120 h 6858000"/>
              <a:gd name="csX7" fmla="*/ 3919955 w 10305515"/>
              <a:gd name="csY7" fmla="*/ 4389120 h 6858000"/>
              <a:gd name="csX8" fmla="*/ 155675 w 10305515"/>
              <a:gd name="csY8" fmla="*/ 3048000 h 6858000"/>
              <a:gd name="csX9" fmla="*/ 460475 w 10305515"/>
              <a:gd name="csY9" fmla="*/ 609600 h 6858000"/>
              <a:gd name="csX10" fmla="*/ 75903 w 10305515"/>
              <a:gd name="csY10" fmla="*/ 74235 h 6858000"/>
              <a:gd name="csX11" fmla="*/ 1546 w 10305515"/>
              <a:gd name="csY11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0305515" h="6858000">
                <a:moveTo>
                  <a:pt x="1546" y="0"/>
                </a:moveTo>
                <a:lnTo>
                  <a:pt x="10305515" y="0"/>
                </a:lnTo>
                <a:lnTo>
                  <a:pt x="10305515" y="6858000"/>
                </a:lnTo>
                <a:lnTo>
                  <a:pt x="6538786" y="6858000"/>
                </a:lnTo>
                <a:lnTo>
                  <a:pt x="6520183" y="6792451"/>
                </a:lnTo>
                <a:cubicBezTo>
                  <a:pt x="6465055" y="6637933"/>
                  <a:pt x="6357403" y="6500019"/>
                  <a:pt x="6190715" y="6400800"/>
                </a:cubicBezTo>
                <a:cubicBezTo>
                  <a:pt x="5657315" y="6083300"/>
                  <a:pt x="3368775" y="6248400"/>
                  <a:pt x="2990315" y="5913120"/>
                </a:cubicBezTo>
                <a:cubicBezTo>
                  <a:pt x="2611855" y="5577840"/>
                  <a:pt x="4392395" y="4866640"/>
                  <a:pt x="3919955" y="4389120"/>
                </a:cubicBezTo>
                <a:cubicBezTo>
                  <a:pt x="3447515" y="3911600"/>
                  <a:pt x="732255" y="3677920"/>
                  <a:pt x="155675" y="3048000"/>
                </a:cubicBezTo>
                <a:cubicBezTo>
                  <a:pt x="-420905" y="2418080"/>
                  <a:pt x="816075" y="1348740"/>
                  <a:pt x="460475" y="609600"/>
                </a:cubicBezTo>
                <a:cubicBezTo>
                  <a:pt x="371575" y="424815"/>
                  <a:pt x="239813" y="246936"/>
                  <a:pt x="75903" y="74235"/>
                </a:cubicBezTo>
                <a:lnTo>
                  <a:pt x="1546" y="0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2"/>
              </a:gs>
            </a:gsLst>
          </a:gradFill>
          <a:ln>
            <a:noFill/>
          </a:ln>
          <a:effectLst>
            <a:outerShdw blurRad="38100" dist="50800" dir="5400000" algn="t" rotWithShape="0">
              <a:schemeClr val="accent6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9645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10561320" y="-182880"/>
            <a:ext cx="1737360" cy="502920"/>
          </a:xfrm>
          <a:prstGeom prst="parallelogram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10972800" y="164592"/>
            <a:ext cx="731520" cy="164592"/>
          </a:xfrm>
          <a:prstGeom prst="parallelogram">
            <a:avLst/>
          </a:prstGeom>
          <a:solidFill>
            <a:srgbClr val="4B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87382" y="237744"/>
            <a:ext cx="120545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 dirty="0">
                <a:solidFill>
                  <a:srgbClr val="A5A5A5"/>
                </a:solidFill>
                <a:latin typeface="Aptos"/>
              </a:rPr>
              <a:t>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512064"/>
            <a:ext cx="320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660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85800"/>
            <a:ext cx="211596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dirty="0">
                <a:solidFill>
                  <a:srgbClr val="FF6600"/>
                </a:solidFill>
                <a:latin typeface="Aptos"/>
              </a:rPr>
              <a:t>01 / BUSINESS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87552"/>
            <a:ext cx="7696402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 dirty="0">
                <a:solidFill>
                  <a:srgbClr val="F6F6F6"/>
                </a:solidFill>
                <a:latin typeface="Aptos"/>
              </a:rPr>
              <a:t>From business problem to analytical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54480"/>
            <a:ext cx="683270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A5A5A5"/>
                </a:solidFill>
                <a:latin typeface="Aptos"/>
              </a:rPr>
              <a:t>A visual starting point for understanding customers, products and sales 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938528"/>
            <a:ext cx="11109960" cy="64008"/>
          </a:xfrm>
          <a:prstGeom prst="rect">
            <a:avLst/>
          </a:prstGeom>
          <a:solidFill>
            <a:srgbClr val="34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6473952"/>
            <a:ext cx="36576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A5A5A5"/>
                </a:solidFill>
                <a:latin typeface="Aptos"/>
              </a:rPr>
              <a:t>BLACK FRIDAY  /  SALES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73952"/>
            <a:ext cx="8686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00" b="1">
                <a:solidFill>
                  <a:srgbClr val="A5A5A5"/>
                </a:solidFill>
                <a:latin typeface="Aptos"/>
              </a:rPr>
              <a:t>01 / 06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619AF4D-497C-D05C-4C33-1A4FA8D9B50E}"/>
              </a:ext>
            </a:extLst>
          </p:cNvPr>
          <p:cNvGrpSpPr/>
          <p:nvPr/>
        </p:nvGrpSpPr>
        <p:grpSpPr>
          <a:xfrm>
            <a:off x="658368" y="2286000"/>
            <a:ext cx="3030859" cy="2990088"/>
            <a:chOff x="658368" y="2286000"/>
            <a:chExt cx="3030859" cy="2990088"/>
          </a:xfrm>
        </p:grpSpPr>
        <p:sp>
          <p:nvSpPr>
            <p:cNvPr id="13" name="Oval 12"/>
            <p:cNvSpPr/>
            <p:nvPr/>
          </p:nvSpPr>
          <p:spPr>
            <a:xfrm>
              <a:off x="658368" y="2487168"/>
              <a:ext cx="2788920" cy="2788920"/>
            </a:xfrm>
            <a:prstGeom prst="ellipse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Oval 13"/>
            <p:cNvSpPr/>
            <p:nvPr/>
          </p:nvSpPr>
          <p:spPr>
            <a:xfrm>
              <a:off x="1042415" y="2871216"/>
              <a:ext cx="2020824" cy="2020824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Oval 14"/>
            <p:cNvSpPr/>
            <p:nvPr/>
          </p:nvSpPr>
          <p:spPr>
            <a:xfrm>
              <a:off x="1581912" y="3410712"/>
              <a:ext cx="941832" cy="941832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67109" y="3730752"/>
              <a:ext cx="571438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b="1" dirty="0">
                  <a:solidFill>
                    <a:srgbClr val="0A0A0A"/>
                  </a:solidFill>
                  <a:latin typeface="Aptos"/>
                </a:rPr>
                <a:t>PLAN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05444" y="2286000"/>
              <a:ext cx="806631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 dirty="0">
                  <a:solidFill>
                    <a:srgbClr val="FF6600"/>
                  </a:solidFill>
                  <a:latin typeface="Aptos"/>
                </a:rPr>
                <a:t>CUSTOMER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85893" y="2788920"/>
              <a:ext cx="703334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 dirty="0">
                  <a:solidFill>
                    <a:srgbClr val="FF6600"/>
                  </a:solidFill>
                  <a:latin typeface="Aptos"/>
                </a:rPr>
                <a:t>PRODUCT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932119" y="4828032"/>
              <a:ext cx="445122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 dirty="0">
                  <a:solidFill>
                    <a:srgbClr val="FF6600"/>
                  </a:solidFill>
                  <a:latin typeface="Aptos"/>
                </a:rPr>
                <a:t>SALES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42574" y="4387334"/>
              <a:ext cx="322204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 dirty="0">
                  <a:solidFill>
                    <a:srgbClr val="FF6600"/>
                  </a:solidFill>
                  <a:latin typeface="Aptos"/>
                </a:rPr>
                <a:t>CITY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6F0B127-A87C-9CD9-B32A-058DDB7114DE}"/>
              </a:ext>
            </a:extLst>
          </p:cNvPr>
          <p:cNvGrpSpPr/>
          <p:nvPr/>
        </p:nvGrpSpPr>
        <p:grpSpPr>
          <a:xfrm>
            <a:off x="4617720" y="2395728"/>
            <a:ext cx="512064" cy="512064"/>
            <a:chOff x="4617720" y="2395728"/>
            <a:chExt cx="512064" cy="512064"/>
          </a:xfrm>
        </p:grpSpPr>
        <p:sp>
          <p:nvSpPr>
            <p:cNvPr id="21" name="Oval 20"/>
            <p:cNvSpPr/>
            <p:nvPr/>
          </p:nvSpPr>
          <p:spPr>
            <a:xfrm>
              <a:off x="4617720" y="2395728"/>
              <a:ext cx="512064" cy="512064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798412" y="2560320"/>
              <a:ext cx="150683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0A0A0A"/>
                  </a:solidFill>
                  <a:latin typeface="Aptos"/>
                </a:rPr>
                <a:t>01</a:t>
              </a:r>
              <a:endParaRPr sz="1100" b="1" dirty="0">
                <a:solidFill>
                  <a:srgbClr val="0A0A0A"/>
                </a:solidFill>
                <a:latin typeface="Apto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FAA9618-AD5E-AB14-41DA-FC6CD6D60B90}"/>
              </a:ext>
            </a:extLst>
          </p:cNvPr>
          <p:cNvGrpSpPr/>
          <p:nvPr/>
        </p:nvGrpSpPr>
        <p:grpSpPr>
          <a:xfrm>
            <a:off x="5349240" y="2414016"/>
            <a:ext cx="4839466" cy="458986"/>
            <a:chOff x="5349240" y="2414016"/>
            <a:chExt cx="4839466" cy="458986"/>
          </a:xfrm>
        </p:grpSpPr>
        <p:sp>
          <p:nvSpPr>
            <p:cNvPr id="23" name="TextBox 22"/>
            <p:cNvSpPr txBox="1"/>
            <p:nvPr/>
          </p:nvSpPr>
          <p:spPr>
            <a:xfrm>
              <a:off x="5349240" y="2414016"/>
              <a:ext cx="1928092" cy="24622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600" b="1" dirty="0">
                  <a:solidFill>
                    <a:srgbClr val="F6F6F6"/>
                  </a:solidFill>
                  <a:latin typeface="Aptos"/>
                </a:rPr>
                <a:t>BUSINESS PROBLEM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349240" y="2688336"/>
              <a:ext cx="4839466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200" b="0" dirty="0">
                  <a:solidFill>
                    <a:srgbClr val="A5A5A5"/>
                  </a:solidFill>
                  <a:latin typeface="Aptos"/>
                </a:rPr>
                <a:t>Understand customer behavior, product demand and sales performance.</a:t>
              </a:r>
            </a:p>
          </p:txBody>
        </p:sp>
      </p:grpSp>
      <p:sp>
        <p:nvSpPr>
          <p:cNvPr id="25" name="Rectangle 24"/>
          <p:cNvSpPr/>
          <p:nvPr/>
        </p:nvSpPr>
        <p:spPr>
          <a:xfrm>
            <a:off x="4864608" y="2926080"/>
            <a:ext cx="18288" cy="566928"/>
          </a:xfrm>
          <a:prstGeom prst="rect">
            <a:avLst/>
          </a:prstGeom>
          <a:solidFill>
            <a:srgbClr val="34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125027D-15F4-F857-D16E-556472042133}"/>
              </a:ext>
            </a:extLst>
          </p:cNvPr>
          <p:cNvGrpSpPr/>
          <p:nvPr/>
        </p:nvGrpSpPr>
        <p:grpSpPr>
          <a:xfrm>
            <a:off x="4617720" y="3474720"/>
            <a:ext cx="512064" cy="512064"/>
            <a:chOff x="4617720" y="3474720"/>
            <a:chExt cx="512064" cy="512064"/>
          </a:xfrm>
        </p:grpSpPr>
        <p:sp>
          <p:nvSpPr>
            <p:cNvPr id="26" name="Oval 25"/>
            <p:cNvSpPr/>
            <p:nvPr/>
          </p:nvSpPr>
          <p:spPr>
            <a:xfrm>
              <a:off x="4617720" y="3474720"/>
              <a:ext cx="512064" cy="512064"/>
            </a:xfrm>
            <a:prstGeom prst="ellipse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98411" y="3639312"/>
              <a:ext cx="150682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 b="1">
                  <a:solidFill>
                    <a:srgbClr val="FF6600"/>
                  </a:solidFill>
                  <a:latin typeface="Aptos"/>
                </a:rPr>
                <a:t>02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53F8B07-2D72-B256-FBE1-B1FED3D65893}"/>
              </a:ext>
            </a:extLst>
          </p:cNvPr>
          <p:cNvGrpSpPr/>
          <p:nvPr/>
        </p:nvGrpSpPr>
        <p:grpSpPr>
          <a:xfrm>
            <a:off x="5349240" y="3493008"/>
            <a:ext cx="3153877" cy="458986"/>
            <a:chOff x="5349240" y="3493008"/>
            <a:chExt cx="3153877" cy="458986"/>
          </a:xfrm>
        </p:grpSpPr>
        <p:sp>
          <p:nvSpPr>
            <p:cNvPr id="28" name="TextBox 27"/>
            <p:cNvSpPr txBox="1"/>
            <p:nvPr/>
          </p:nvSpPr>
          <p:spPr>
            <a:xfrm>
              <a:off x="5349240" y="3493008"/>
              <a:ext cx="2126993" cy="24622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600" b="1">
                  <a:solidFill>
                    <a:srgbClr val="F6F6F6"/>
                  </a:solidFill>
                  <a:latin typeface="Aptos"/>
                </a:rPr>
                <a:t>BUSINESS QUESTIONS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349240" y="3767328"/>
              <a:ext cx="3153877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200" b="0">
                  <a:solidFill>
                    <a:srgbClr val="A5A5A5"/>
                  </a:solidFill>
                  <a:latin typeface="Aptos"/>
                </a:rPr>
                <a:t>Who buys? What sells? Where is value created?</a:t>
              </a:r>
            </a:p>
          </p:txBody>
        </p:sp>
      </p:grpSp>
      <p:sp>
        <p:nvSpPr>
          <p:cNvPr id="30" name="Rectangle 29"/>
          <p:cNvSpPr/>
          <p:nvPr/>
        </p:nvSpPr>
        <p:spPr>
          <a:xfrm>
            <a:off x="4864608" y="4005072"/>
            <a:ext cx="18288" cy="566928"/>
          </a:xfrm>
          <a:prstGeom prst="rect">
            <a:avLst/>
          </a:prstGeom>
          <a:solidFill>
            <a:srgbClr val="34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7270D67-E871-B6B2-3C46-637C21857239}"/>
              </a:ext>
            </a:extLst>
          </p:cNvPr>
          <p:cNvGrpSpPr/>
          <p:nvPr/>
        </p:nvGrpSpPr>
        <p:grpSpPr>
          <a:xfrm>
            <a:off x="4617720" y="4553712"/>
            <a:ext cx="512064" cy="512064"/>
            <a:chOff x="4617720" y="4553712"/>
            <a:chExt cx="512064" cy="512064"/>
          </a:xfrm>
        </p:grpSpPr>
        <p:sp>
          <p:nvSpPr>
            <p:cNvPr id="31" name="Oval 30"/>
            <p:cNvSpPr/>
            <p:nvPr/>
          </p:nvSpPr>
          <p:spPr>
            <a:xfrm>
              <a:off x="4617720" y="4553712"/>
              <a:ext cx="512064" cy="512064"/>
            </a:xfrm>
            <a:prstGeom prst="ellipse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98411" y="4718304"/>
              <a:ext cx="150682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 b="1" dirty="0">
                  <a:solidFill>
                    <a:srgbClr val="FF6600"/>
                  </a:solidFill>
                  <a:latin typeface="Aptos"/>
                </a:rPr>
                <a:t>03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426F430-1C90-3645-AF7D-497422CFFDD4}"/>
              </a:ext>
            </a:extLst>
          </p:cNvPr>
          <p:cNvGrpSpPr/>
          <p:nvPr/>
        </p:nvGrpSpPr>
        <p:grpSpPr>
          <a:xfrm>
            <a:off x="5349240" y="4572000"/>
            <a:ext cx="2773516" cy="458986"/>
            <a:chOff x="5349240" y="4572000"/>
            <a:chExt cx="2773516" cy="458986"/>
          </a:xfrm>
        </p:grpSpPr>
        <p:sp>
          <p:nvSpPr>
            <p:cNvPr id="33" name="TextBox 32"/>
            <p:cNvSpPr txBox="1"/>
            <p:nvPr/>
          </p:nvSpPr>
          <p:spPr>
            <a:xfrm>
              <a:off x="5349240" y="4572000"/>
              <a:ext cx="769441" cy="24622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600" b="1">
                  <a:solidFill>
                    <a:srgbClr val="F6F6F6"/>
                  </a:solidFill>
                  <a:latin typeface="Aptos"/>
                </a:rPr>
                <a:t>OUTPUT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349240" y="4846320"/>
              <a:ext cx="2773516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200" b="0">
                  <a:solidFill>
                    <a:srgbClr val="A5A5A5"/>
                  </a:solidFill>
                  <a:latin typeface="Aptos"/>
                </a:rPr>
                <a:t>KPIs + hypotheses + an analysis roadmap.</a:t>
              </a:r>
            </a:p>
          </p:txBody>
        </p:sp>
      </p:grpSp>
      <p:sp>
        <p:nvSpPr>
          <p:cNvPr id="35" name="Trapezoid 34"/>
          <p:cNvSpPr/>
          <p:nvPr/>
        </p:nvSpPr>
        <p:spPr>
          <a:xfrm>
            <a:off x="8641080" y="5532120"/>
            <a:ext cx="3017520" cy="502920"/>
          </a:xfrm>
          <a:prstGeom prst="trapezoid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24106" y="5696712"/>
            <a:ext cx="1851468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 dirty="0">
                <a:solidFill>
                  <a:srgbClr val="0A0A0A"/>
                </a:solidFill>
                <a:latin typeface="Aptos"/>
              </a:rPr>
              <a:t>TURN DATA INTO DECISIONS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5" grpId="0" animBg="1"/>
      <p:bldP spid="30" grpId="0" animBg="1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10561320" y="-182880"/>
            <a:ext cx="1737360" cy="502920"/>
          </a:xfrm>
          <a:prstGeom prst="parallelogram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10972800" y="164592"/>
            <a:ext cx="731520" cy="164592"/>
          </a:xfrm>
          <a:prstGeom prst="parallelogram">
            <a:avLst/>
          </a:prstGeom>
          <a:solidFill>
            <a:srgbClr val="4B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87382" y="237744"/>
            <a:ext cx="120545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 dirty="0">
                <a:solidFill>
                  <a:srgbClr val="A5A5A5"/>
                </a:solidFill>
                <a:latin typeface="Aptos"/>
              </a:rPr>
              <a:t>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512064"/>
            <a:ext cx="320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6600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85800"/>
            <a:ext cx="1588576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dirty="0">
                <a:solidFill>
                  <a:srgbClr val="FF6600"/>
                </a:solidFill>
                <a:latin typeface="Aptos"/>
              </a:rPr>
              <a:t>02 / BUSINESS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87552"/>
            <a:ext cx="7597464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 dirty="0">
                <a:solidFill>
                  <a:srgbClr val="F6F6F6"/>
                </a:solidFill>
                <a:latin typeface="Aptos"/>
              </a:rPr>
              <a:t>Why does the retailer need this analysis?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54480"/>
            <a:ext cx="636514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A5A5A5"/>
                </a:solidFill>
                <a:latin typeface="Aptos"/>
              </a:rPr>
              <a:t>Four lenses reveal where value is created — and where action is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938528"/>
            <a:ext cx="11109960" cy="72486"/>
          </a:xfrm>
          <a:prstGeom prst="rect">
            <a:avLst/>
          </a:prstGeom>
          <a:solidFill>
            <a:srgbClr val="34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6473952"/>
            <a:ext cx="36576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A5A5A5"/>
                </a:solidFill>
                <a:latin typeface="Aptos"/>
              </a:rPr>
              <a:t>BLACK FRIDAY  /  SALES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73952"/>
            <a:ext cx="8686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00" b="1">
                <a:solidFill>
                  <a:srgbClr val="A5A5A5"/>
                </a:solidFill>
                <a:latin typeface="Aptos"/>
              </a:rPr>
              <a:t>02 / 06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B6DBB3C-37DD-E2CC-3A1A-09281C0B6B79}"/>
              </a:ext>
            </a:extLst>
          </p:cNvPr>
          <p:cNvGrpSpPr/>
          <p:nvPr/>
        </p:nvGrpSpPr>
        <p:grpSpPr>
          <a:xfrm>
            <a:off x="530352" y="2331720"/>
            <a:ext cx="5230368" cy="1188720"/>
            <a:chOff x="530352" y="2331720"/>
            <a:chExt cx="5230368" cy="1188720"/>
          </a:xfrm>
        </p:grpSpPr>
        <p:sp>
          <p:nvSpPr>
            <p:cNvPr id="13" name="Rounded Rectangle 12"/>
            <p:cNvSpPr/>
            <p:nvPr/>
          </p:nvSpPr>
          <p:spPr>
            <a:xfrm>
              <a:off x="530352" y="2331720"/>
              <a:ext cx="5230368" cy="1188720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Hexagon 13"/>
            <p:cNvSpPr/>
            <p:nvPr/>
          </p:nvSpPr>
          <p:spPr>
            <a:xfrm>
              <a:off x="758952" y="2578608"/>
              <a:ext cx="502920" cy="502920"/>
            </a:xfrm>
            <a:prstGeom prst="hexagon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Oval 14"/>
            <p:cNvSpPr/>
            <p:nvPr/>
          </p:nvSpPr>
          <p:spPr>
            <a:xfrm>
              <a:off x="886968" y="2697479"/>
              <a:ext cx="246888" cy="246888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63040" y="2514600"/>
              <a:ext cx="163506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200" b="1" dirty="0">
                  <a:solidFill>
                    <a:srgbClr val="FF6600"/>
                  </a:solidFill>
                  <a:latin typeface="Aptos"/>
                </a:rPr>
                <a:t>01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551103F-1DE8-A83F-D7E9-7EC2720E92D9}"/>
              </a:ext>
            </a:extLst>
          </p:cNvPr>
          <p:cNvGrpSpPr/>
          <p:nvPr/>
        </p:nvGrpSpPr>
        <p:grpSpPr>
          <a:xfrm>
            <a:off x="1463040" y="2514600"/>
            <a:ext cx="4091454" cy="750926"/>
            <a:chOff x="1463040" y="2514600"/>
            <a:chExt cx="4091454" cy="750926"/>
          </a:xfrm>
        </p:grpSpPr>
        <p:sp>
          <p:nvSpPr>
            <p:cNvPr id="17" name="TextBox 16"/>
            <p:cNvSpPr txBox="1"/>
            <p:nvPr/>
          </p:nvSpPr>
          <p:spPr>
            <a:xfrm>
              <a:off x="1901952" y="2514600"/>
              <a:ext cx="940322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 dirty="0">
                  <a:solidFill>
                    <a:srgbClr val="F6F6F6"/>
                  </a:solidFill>
                  <a:latin typeface="Aptos"/>
                </a:rPr>
                <a:t>CUSTOMER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63040" y="2834639"/>
              <a:ext cx="4091454" cy="43088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400" b="0" dirty="0">
                  <a:solidFill>
                    <a:srgbClr val="A5A5A5"/>
                  </a:solidFill>
                  <a:latin typeface="Aptos"/>
                </a:rPr>
                <a:t>Different age groups, occupations and marital-status groups may behave differently.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5924583-B874-81CB-ECBE-546DE5761CC3}"/>
              </a:ext>
            </a:extLst>
          </p:cNvPr>
          <p:cNvGrpSpPr/>
          <p:nvPr/>
        </p:nvGrpSpPr>
        <p:grpSpPr>
          <a:xfrm>
            <a:off x="6062472" y="2331720"/>
            <a:ext cx="5230368" cy="1188720"/>
            <a:chOff x="6062472" y="2331720"/>
            <a:chExt cx="5230368" cy="1188720"/>
          </a:xfrm>
        </p:grpSpPr>
        <p:sp>
          <p:nvSpPr>
            <p:cNvPr id="19" name="Rounded Rectangle 18"/>
            <p:cNvSpPr/>
            <p:nvPr/>
          </p:nvSpPr>
          <p:spPr>
            <a:xfrm>
              <a:off x="6062472" y="2331720"/>
              <a:ext cx="5230368" cy="1188720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Diamond 19"/>
            <p:cNvSpPr/>
            <p:nvPr/>
          </p:nvSpPr>
          <p:spPr>
            <a:xfrm>
              <a:off x="6309360" y="2606039"/>
              <a:ext cx="457200" cy="457200"/>
            </a:xfrm>
            <a:prstGeom prst="diamond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464808" y="2679191"/>
              <a:ext cx="146304" cy="310896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995160" y="2514600"/>
              <a:ext cx="163506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200" b="1">
                  <a:solidFill>
                    <a:srgbClr val="FF6600"/>
                  </a:solidFill>
                  <a:latin typeface="Aptos"/>
                </a:rPr>
                <a:t>02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9B8965B-1468-C946-64B2-13B38B2AEDA7}"/>
              </a:ext>
            </a:extLst>
          </p:cNvPr>
          <p:cNvGrpSpPr/>
          <p:nvPr/>
        </p:nvGrpSpPr>
        <p:grpSpPr>
          <a:xfrm>
            <a:off x="6995160" y="2514600"/>
            <a:ext cx="4050791" cy="750925"/>
            <a:chOff x="6995160" y="2514600"/>
            <a:chExt cx="4050791" cy="750925"/>
          </a:xfrm>
        </p:grpSpPr>
        <p:sp>
          <p:nvSpPr>
            <p:cNvPr id="23" name="TextBox 22"/>
            <p:cNvSpPr txBox="1"/>
            <p:nvPr/>
          </p:nvSpPr>
          <p:spPr>
            <a:xfrm>
              <a:off x="7434071" y="2514600"/>
              <a:ext cx="376706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 dirty="0">
                  <a:solidFill>
                    <a:srgbClr val="F6F6F6"/>
                  </a:solidFill>
                  <a:latin typeface="Aptos"/>
                </a:rPr>
                <a:t>CITY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995160" y="2834638"/>
              <a:ext cx="4050791" cy="43088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400" b="0" dirty="0">
                  <a:solidFill>
                    <a:srgbClr val="A5A5A5"/>
                  </a:solidFill>
                  <a:latin typeface="Aptos"/>
                </a:rPr>
                <a:t>Purchasing patterns may vary across City Categories A, B and C.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DE93456-C333-7ABE-CDB0-C88572135342}"/>
              </a:ext>
            </a:extLst>
          </p:cNvPr>
          <p:cNvGrpSpPr/>
          <p:nvPr/>
        </p:nvGrpSpPr>
        <p:grpSpPr>
          <a:xfrm>
            <a:off x="530352" y="3776472"/>
            <a:ext cx="5230368" cy="1188720"/>
            <a:chOff x="530352" y="3776472"/>
            <a:chExt cx="5230368" cy="1188720"/>
          </a:xfrm>
        </p:grpSpPr>
        <p:sp>
          <p:nvSpPr>
            <p:cNvPr id="25" name="Rounded Rectangle 24"/>
            <p:cNvSpPr/>
            <p:nvPr/>
          </p:nvSpPr>
          <p:spPr>
            <a:xfrm>
              <a:off x="530352" y="3776472"/>
              <a:ext cx="5230368" cy="1188720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Pie 25"/>
            <p:cNvSpPr/>
            <p:nvPr/>
          </p:nvSpPr>
          <p:spPr>
            <a:xfrm>
              <a:off x="758952" y="4014215"/>
              <a:ext cx="512064" cy="512064"/>
            </a:xfrm>
            <a:prstGeom prst="pie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978407" y="4224528"/>
              <a:ext cx="128016" cy="237744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463040" y="3959352"/>
              <a:ext cx="163506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200" b="1">
                  <a:solidFill>
                    <a:srgbClr val="FF6600"/>
                  </a:solidFill>
                  <a:latin typeface="Aptos"/>
                </a:rPr>
                <a:t>03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7B716D8-DF67-6242-A1DC-ED08E71EC2AF}"/>
              </a:ext>
            </a:extLst>
          </p:cNvPr>
          <p:cNvGrpSpPr/>
          <p:nvPr/>
        </p:nvGrpSpPr>
        <p:grpSpPr>
          <a:xfrm>
            <a:off x="1463041" y="3959352"/>
            <a:ext cx="4091454" cy="750927"/>
            <a:chOff x="1463041" y="3959352"/>
            <a:chExt cx="4091454" cy="750927"/>
          </a:xfrm>
        </p:grpSpPr>
        <p:sp>
          <p:nvSpPr>
            <p:cNvPr id="29" name="TextBox 28"/>
            <p:cNvSpPr txBox="1"/>
            <p:nvPr/>
          </p:nvSpPr>
          <p:spPr>
            <a:xfrm>
              <a:off x="1901952" y="3959352"/>
              <a:ext cx="819520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F6F6F6"/>
                  </a:solidFill>
                  <a:latin typeface="Aptos"/>
                </a:rPr>
                <a:t>PRODUCT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463041" y="4279392"/>
              <a:ext cx="4091454" cy="43088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400" b="0" dirty="0">
                  <a:solidFill>
                    <a:srgbClr val="A5A5A5"/>
                  </a:solidFill>
                  <a:latin typeface="Aptos"/>
                </a:rPr>
                <a:t>Some product categories may perform strongly while others underperform.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788AA5A-F7AE-63FF-9F0C-4BC0A51D1CC7}"/>
              </a:ext>
            </a:extLst>
          </p:cNvPr>
          <p:cNvGrpSpPr/>
          <p:nvPr/>
        </p:nvGrpSpPr>
        <p:grpSpPr>
          <a:xfrm>
            <a:off x="6062472" y="3776472"/>
            <a:ext cx="5230368" cy="1188720"/>
            <a:chOff x="6062472" y="3776472"/>
            <a:chExt cx="5230368" cy="1188720"/>
          </a:xfrm>
        </p:grpSpPr>
        <p:sp>
          <p:nvSpPr>
            <p:cNvPr id="31" name="Rounded Rectangle 30"/>
            <p:cNvSpPr/>
            <p:nvPr/>
          </p:nvSpPr>
          <p:spPr>
            <a:xfrm>
              <a:off x="6062472" y="3776472"/>
              <a:ext cx="5230368" cy="1188720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5-Point Star 31"/>
            <p:cNvSpPr/>
            <p:nvPr/>
          </p:nvSpPr>
          <p:spPr>
            <a:xfrm>
              <a:off x="6281928" y="4005072"/>
              <a:ext cx="530352" cy="530352"/>
            </a:xfrm>
            <a:prstGeom prst="star5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995160" y="3959352"/>
              <a:ext cx="163506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200" b="1">
                  <a:solidFill>
                    <a:srgbClr val="FF6600"/>
                  </a:solidFill>
                  <a:latin typeface="Aptos"/>
                </a:rPr>
                <a:t>04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3FB0F68-2534-DAAF-5CBA-6A894C42B5B9}"/>
              </a:ext>
            </a:extLst>
          </p:cNvPr>
          <p:cNvGrpSpPr/>
          <p:nvPr/>
        </p:nvGrpSpPr>
        <p:grpSpPr>
          <a:xfrm>
            <a:off x="6995160" y="3959352"/>
            <a:ext cx="4218433" cy="750927"/>
            <a:chOff x="6995160" y="3959352"/>
            <a:chExt cx="4218433" cy="750927"/>
          </a:xfrm>
        </p:grpSpPr>
        <p:sp>
          <p:nvSpPr>
            <p:cNvPr id="34" name="TextBox 33"/>
            <p:cNvSpPr txBox="1"/>
            <p:nvPr/>
          </p:nvSpPr>
          <p:spPr>
            <a:xfrm>
              <a:off x="7434071" y="3959352"/>
              <a:ext cx="94737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 dirty="0">
                  <a:solidFill>
                    <a:srgbClr val="F6F6F6"/>
                  </a:solidFill>
                  <a:latin typeface="Aptos"/>
                </a:rPr>
                <a:t>RETENTION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995160" y="4279392"/>
              <a:ext cx="4218433" cy="43088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400" b="0" dirty="0">
                  <a:solidFill>
                    <a:srgbClr val="A5A5A5"/>
                  </a:solidFill>
                  <a:latin typeface="Aptos"/>
                </a:rPr>
                <a:t>Identify valuable customers and opportunities for targeted campaigns and loyalty.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83E4823-127C-6556-93EE-2C2D51DE2AC4}"/>
              </a:ext>
            </a:extLst>
          </p:cNvPr>
          <p:cNvGrpSpPr/>
          <p:nvPr/>
        </p:nvGrpSpPr>
        <p:grpSpPr>
          <a:xfrm>
            <a:off x="530352" y="5440680"/>
            <a:ext cx="10515599" cy="594360"/>
            <a:chOff x="530352" y="5440680"/>
            <a:chExt cx="10515599" cy="594360"/>
          </a:xfrm>
        </p:grpSpPr>
        <p:sp>
          <p:nvSpPr>
            <p:cNvPr id="36" name="Right Triangle 35"/>
            <p:cNvSpPr/>
            <p:nvPr/>
          </p:nvSpPr>
          <p:spPr>
            <a:xfrm>
              <a:off x="530352" y="5440680"/>
              <a:ext cx="502920" cy="594360"/>
            </a:xfrm>
            <a:prstGeom prst="rtTriangle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033271" y="5440680"/>
              <a:ext cx="10012680" cy="594360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1298448" y="5586984"/>
            <a:ext cx="1143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0A0A0A"/>
                </a:solidFill>
                <a:latin typeface="Aptos"/>
              </a:rPr>
              <a:t>BUSINESS NEED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31902" y="5586984"/>
            <a:ext cx="7322517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dirty="0">
                <a:solidFill>
                  <a:srgbClr val="0A0A0A"/>
                </a:solidFill>
                <a:latin typeface="Aptos"/>
              </a:rPr>
              <a:t>Convert transaction-level data into actionable decisions for marketing, customer retention and inventory planning.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10561320" y="-182880"/>
            <a:ext cx="1737360" cy="502920"/>
          </a:xfrm>
          <a:prstGeom prst="parallelogram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10972800" y="164592"/>
            <a:ext cx="731520" cy="164592"/>
          </a:xfrm>
          <a:prstGeom prst="parallelogram">
            <a:avLst/>
          </a:prstGeom>
          <a:solidFill>
            <a:srgbClr val="4B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87382" y="237744"/>
            <a:ext cx="120545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 dirty="0">
                <a:solidFill>
                  <a:srgbClr val="A5A5A5"/>
                </a:solidFill>
                <a:latin typeface="Aptos"/>
              </a:rPr>
              <a:t>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512064"/>
            <a:ext cx="320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6600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85800"/>
            <a:ext cx="1033937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dirty="0">
                <a:solidFill>
                  <a:srgbClr val="FF6600"/>
                </a:solidFill>
                <a:latin typeface="Aptos"/>
              </a:rPr>
              <a:t>03 /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87552"/>
            <a:ext cx="6309035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 dirty="0">
                <a:solidFill>
                  <a:srgbClr val="F6F6F6"/>
                </a:solidFill>
                <a:latin typeface="Aptos"/>
              </a:rPr>
              <a:t>The questions behind the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54480"/>
            <a:ext cx="699916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A5A5A5"/>
                </a:solidFill>
                <a:latin typeface="Aptos"/>
              </a:rPr>
              <a:t>A question matrix connects customer, geography, behavior and product signals.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938528"/>
            <a:ext cx="11109960" cy="82296"/>
          </a:xfrm>
          <a:prstGeom prst="rect">
            <a:avLst/>
          </a:prstGeom>
          <a:solidFill>
            <a:srgbClr val="34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6473952"/>
            <a:ext cx="36576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A5A5A5"/>
                </a:solidFill>
                <a:latin typeface="Aptos"/>
              </a:rPr>
              <a:t>BLACK FRIDAY  /  SALES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73952"/>
            <a:ext cx="8686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00" b="1">
                <a:solidFill>
                  <a:srgbClr val="A5A5A5"/>
                </a:solidFill>
                <a:latin typeface="Aptos"/>
              </a:rPr>
              <a:t>03 / 06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F32B40-8FF2-4AB6-591F-6BF1017EE845}"/>
              </a:ext>
            </a:extLst>
          </p:cNvPr>
          <p:cNvGrpSpPr/>
          <p:nvPr/>
        </p:nvGrpSpPr>
        <p:grpSpPr>
          <a:xfrm>
            <a:off x="658368" y="2487168"/>
            <a:ext cx="2089404" cy="2116836"/>
            <a:chOff x="658368" y="2487168"/>
            <a:chExt cx="2089404" cy="2116836"/>
          </a:xfrm>
        </p:grpSpPr>
        <p:sp>
          <p:nvSpPr>
            <p:cNvPr id="13" name="Oval 12"/>
            <p:cNvSpPr/>
            <p:nvPr/>
          </p:nvSpPr>
          <p:spPr>
            <a:xfrm>
              <a:off x="658368" y="2487168"/>
              <a:ext cx="2057400" cy="2057400"/>
            </a:xfrm>
            <a:prstGeom prst="ellipse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Oval 13"/>
            <p:cNvSpPr/>
            <p:nvPr/>
          </p:nvSpPr>
          <p:spPr>
            <a:xfrm>
              <a:off x="960120" y="2788920"/>
              <a:ext cx="1444752" cy="1444752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Oval 14"/>
            <p:cNvSpPr/>
            <p:nvPr/>
          </p:nvSpPr>
          <p:spPr>
            <a:xfrm>
              <a:off x="1344168" y="3172968"/>
              <a:ext cx="676656" cy="676656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/>
            <p:cNvSpPr/>
            <p:nvPr/>
          </p:nvSpPr>
          <p:spPr>
            <a:xfrm rot="2700000">
              <a:off x="2212848" y="4069080"/>
              <a:ext cx="868680" cy="201168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467080" y="3380601"/>
              <a:ext cx="424027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b="1" dirty="0">
                  <a:solidFill>
                    <a:srgbClr val="0A0A0A"/>
                  </a:solidFill>
                  <a:latin typeface="Aptos"/>
                </a:rPr>
                <a:t>ASK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55DF0D8-ED6D-D4E5-F0F9-1F5226989522}"/>
              </a:ext>
            </a:extLst>
          </p:cNvPr>
          <p:cNvGrpSpPr/>
          <p:nvPr/>
        </p:nvGrpSpPr>
        <p:grpSpPr>
          <a:xfrm>
            <a:off x="3127248" y="2359152"/>
            <a:ext cx="3822191" cy="694944"/>
            <a:chOff x="3127248" y="2359152"/>
            <a:chExt cx="3822191" cy="694944"/>
          </a:xfrm>
        </p:grpSpPr>
        <p:sp>
          <p:nvSpPr>
            <p:cNvPr id="18" name="Rounded Rectangle 17"/>
            <p:cNvSpPr/>
            <p:nvPr/>
          </p:nvSpPr>
          <p:spPr>
            <a:xfrm>
              <a:off x="3127248" y="2359152"/>
              <a:ext cx="3822191" cy="694944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127248" y="2359152"/>
              <a:ext cx="64008" cy="69494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B6B96BE-A69E-1270-4F17-B80A68EFC0E7}"/>
              </a:ext>
            </a:extLst>
          </p:cNvPr>
          <p:cNvGrpSpPr/>
          <p:nvPr/>
        </p:nvGrpSpPr>
        <p:grpSpPr>
          <a:xfrm>
            <a:off x="3355848" y="2468880"/>
            <a:ext cx="2737929" cy="379589"/>
            <a:chOff x="3355848" y="2468880"/>
            <a:chExt cx="2737929" cy="379589"/>
          </a:xfrm>
        </p:grpSpPr>
        <p:sp>
          <p:nvSpPr>
            <p:cNvPr id="20" name="TextBox 19"/>
            <p:cNvSpPr txBox="1"/>
            <p:nvPr/>
          </p:nvSpPr>
          <p:spPr>
            <a:xfrm>
              <a:off x="3355848" y="2468880"/>
              <a:ext cx="806631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200" b="1" dirty="0">
                  <a:solidFill>
                    <a:srgbClr val="FF6600"/>
                  </a:solidFill>
                  <a:latin typeface="Aptos"/>
                </a:rPr>
                <a:t>CUSTOMER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55848" y="2679192"/>
              <a:ext cx="2737929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100" b="0" dirty="0">
                  <a:solidFill>
                    <a:srgbClr val="F6F6F6"/>
                  </a:solidFill>
                  <a:latin typeface="Aptos"/>
                </a:rPr>
                <a:t>Which age groups contribute the most sales?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A4C4DF7-0143-EF2A-EE48-38D86EE0ADC5}"/>
              </a:ext>
            </a:extLst>
          </p:cNvPr>
          <p:cNvGrpSpPr/>
          <p:nvPr/>
        </p:nvGrpSpPr>
        <p:grpSpPr>
          <a:xfrm>
            <a:off x="7223760" y="2359152"/>
            <a:ext cx="3822191" cy="694944"/>
            <a:chOff x="7223760" y="2359152"/>
            <a:chExt cx="3822191" cy="694944"/>
          </a:xfrm>
        </p:grpSpPr>
        <p:sp>
          <p:nvSpPr>
            <p:cNvPr id="22" name="Rounded Rectangle 21"/>
            <p:cNvSpPr/>
            <p:nvPr/>
          </p:nvSpPr>
          <p:spPr>
            <a:xfrm>
              <a:off x="7223760" y="2359152"/>
              <a:ext cx="3822191" cy="694944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223760" y="2359152"/>
              <a:ext cx="64008" cy="69494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A387C15-A209-0AF7-E47D-08C2FFD08969}"/>
              </a:ext>
            </a:extLst>
          </p:cNvPr>
          <p:cNvGrpSpPr/>
          <p:nvPr/>
        </p:nvGrpSpPr>
        <p:grpSpPr>
          <a:xfrm>
            <a:off x="7452360" y="2468880"/>
            <a:ext cx="2898648" cy="379589"/>
            <a:chOff x="7452360" y="2468880"/>
            <a:chExt cx="2898648" cy="379589"/>
          </a:xfrm>
        </p:grpSpPr>
        <p:sp>
          <p:nvSpPr>
            <p:cNvPr id="24" name="TextBox 23"/>
            <p:cNvSpPr txBox="1"/>
            <p:nvPr/>
          </p:nvSpPr>
          <p:spPr>
            <a:xfrm>
              <a:off x="7452360" y="2468880"/>
              <a:ext cx="806631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200" b="1" dirty="0">
                  <a:solidFill>
                    <a:srgbClr val="FF6600"/>
                  </a:solidFill>
                  <a:latin typeface="Aptos"/>
                </a:rPr>
                <a:t>CUSTOMER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452360" y="2679192"/>
              <a:ext cx="2898648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100" b="0" dirty="0">
                  <a:solidFill>
                    <a:srgbClr val="F6F6F6"/>
                  </a:solidFill>
                  <a:latin typeface="Aptos"/>
                </a:rPr>
                <a:t>Which gender contributes more to total sales?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3D6299F-5E89-6044-5090-A9BFEECD666D}"/>
              </a:ext>
            </a:extLst>
          </p:cNvPr>
          <p:cNvGrpSpPr/>
          <p:nvPr/>
        </p:nvGrpSpPr>
        <p:grpSpPr>
          <a:xfrm>
            <a:off x="3127248" y="3218688"/>
            <a:ext cx="3822191" cy="694944"/>
            <a:chOff x="3127248" y="3218688"/>
            <a:chExt cx="3822191" cy="694944"/>
          </a:xfrm>
        </p:grpSpPr>
        <p:sp>
          <p:nvSpPr>
            <p:cNvPr id="26" name="Rounded Rectangle 25"/>
            <p:cNvSpPr/>
            <p:nvPr/>
          </p:nvSpPr>
          <p:spPr>
            <a:xfrm>
              <a:off x="3127248" y="3218688"/>
              <a:ext cx="3822191" cy="694944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127248" y="3218688"/>
              <a:ext cx="64008" cy="694944"/>
            </a:xfrm>
            <a:prstGeom prst="rect">
              <a:avLst/>
            </a:prstGeom>
            <a:solidFill>
              <a:srgbClr val="4B1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9D559C5-76D7-5F5E-CE93-51B13B4170D0}"/>
              </a:ext>
            </a:extLst>
          </p:cNvPr>
          <p:cNvGrpSpPr/>
          <p:nvPr/>
        </p:nvGrpSpPr>
        <p:grpSpPr>
          <a:xfrm>
            <a:off x="3355848" y="3328416"/>
            <a:ext cx="3220433" cy="379589"/>
            <a:chOff x="3355848" y="3328416"/>
            <a:chExt cx="3220433" cy="379589"/>
          </a:xfrm>
        </p:grpSpPr>
        <p:sp>
          <p:nvSpPr>
            <p:cNvPr id="28" name="TextBox 27"/>
            <p:cNvSpPr txBox="1"/>
            <p:nvPr/>
          </p:nvSpPr>
          <p:spPr>
            <a:xfrm>
              <a:off x="3355848" y="3328416"/>
              <a:ext cx="806631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200" b="1">
                  <a:solidFill>
                    <a:srgbClr val="FF6600"/>
                  </a:solidFill>
                  <a:latin typeface="Aptos"/>
                </a:rPr>
                <a:t>CUSTOMER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355848" y="3538728"/>
              <a:ext cx="3220433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100" b="0">
                  <a:solidFill>
                    <a:srgbClr val="F6F6F6"/>
                  </a:solidFill>
                  <a:latin typeface="Aptos"/>
                </a:rPr>
                <a:t>Which occupations show higher customer spending?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3C9FC98-64F1-4253-75E6-52B4485C888D}"/>
              </a:ext>
            </a:extLst>
          </p:cNvPr>
          <p:cNvGrpSpPr/>
          <p:nvPr/>
        </p:nvGrpSpPr>
        <p:grpSpPr>
          <a:xfrm>
            <a:off x="7223760" y="3218688"/>
            <a:ext cx="3822191" cy="694944"/>
            <a:chOff x="7223760" y="3218688"/>
            <a:chExt cx="3822191" cy="694944"/>
          </a:xfrm>
        </p:grpSpPr>
        <p:sp>
          <p:nvSpPr>
            <p:cNvPr id="30" name="Rounded Rectangle 29"/>
            <p:cNvSpPr/>
            <p:nvPr/>
          </p:nvSpPr>
          <p:spPr>
            <a:xfrm>
              <a:off x="7223760" y="3218688"/>
              <a:ext cx="3822191" cy="694944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23760" y="3218688"/>
              <a:ext cx="64008" cy="694944"/>
            </a:xfrm>
            <a:prstGeom prst="rect">
              <a:avLst/>
            </a:prstGeom>
            <a:solidFill>
              <a:srgbClr val="4B1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6C4F57B-DC93-8D05-9E12-AF507B96113F}"/>
              </a:ext>
            </a:extLst>
          </p:cNvPr>
          <p:cNvGrpSpPr/>
          <p:nvPr/>
        </p:nvGrpSpPr>
        <p:grpSpPr>
          <a:xfrm>
            <a:off x="7452360" y="3328416"/>
            <a:ext cx="3350276" cy="379589"/>
            <a:chOff x="7452360" y="3328416"/>
            <a:chExt cx="3350276" cy="379589"/>
          </a:xfrm>
        </p:grpSpPr>
        <p:sp>
          <p:nvSpPr>
            <p:cNvPr id="32" name="TextBox 31"/>
            <p:cNvSpPr txBox="1"/>
            <p:nvPr/>
          </p:nvSpPr>
          <p:spPr>
            <a:xfrm>
              <a:off x="7452360" y="3328416"/>
              <a:ext cx="1192378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200" b="1">
                  <a:solidFill>
                    <a:srgbClr val="FF6600"/>
                  </a:solidFill>
                  <a:latin typeface="Aptos"/>
                </a:rPr>
                <a:t>DEMOGRAPHICS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452360" y="3538728"/>
              <a:ext cx="3350276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100" b="0">
                  <a:solidFill>
                    <a:srgbClr val="F6F6F6"/>
                  </a:solidFill>
                  <a:latin typeface="Aptos"/>
                </a:rPr>
                <a:t>How does marital status relate to purchasing behavior?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271BDC5-9F02-7D7E-36C6-ED12F9CB67CF}"/>
              </a:ext>
            </a:extLst>
          </p:cNvPr>
          <p:cNvGrpSpPr/>
          <p:nvPr/>
        </p:nvGrpSpPr>
        <p:grpSpPr>
          <a:xfrm>
            <a:off x="3127248" y="4078224"/>
            <a:ext cx="3822191" cy="694944"/>
            <a:chOff x="3127248" y="4078224"/>
            <a:chExt cx="3822191" cy="694944"/>
          </a:xfrm>
        </p:grpSpPr>
        <p:sp>
          <p:nvSpPr>
            <p:cNvPr id="34" name="Rounded Rectangle 33"/>
            <p:cNvSpPr/>
            <p:nvPr/>
          </p:nvSpPr>
          <p:spPr>
            <a:xfrm>
              <a:off x="3127248" y="4078224"/>
              <a:ext cx="3822191" cy="694944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27248" y="4078224"/>
              <a:ext cx="64008" cy="69494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504CD0B-CCA7-4C06-98E8-1A3D7D2745F4}"/>
              </a:ext>
            </a:extLst>
          </p:cNvPr>
          <p:cNvGrpSpPr/>
          <p:nvPr/>
        </p:nvGrpSpPr>
        <p:grpSpPr>
          <a:xfrm>
            <a:off x="3355848" y="4187952"/>
            <a:ext cx="2911053" cy="379589"/>
            <a:chOff x="3355848" y="4187952"/>
            <a:chExt cx="2911053" cy="379589"/>
          </a:xfrm>
        </p:grpSpPr>
        <p:sp>
          <p:nvSpPr>
            <p:cNvPr id="36" name="TextBox 35"/>
            <p:cNvSpPr txBox="1"/>
            <p:nvPr/>
          </p:nvSpPr>
          <p:spPr>
            <a:xfrm>
              <a:off x="3355848" y="4187952"/>
              <a:ext cx="910377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200" b="1" dirty="0">
                  <a:solidFill>
                    <a:srgbClr val="FF6600"/>
                  </a:solidFill>
                  <a:latin typeface="Aptos"/>
                </a:rPr>
                <a:t>GEOGRAPHY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355848" y="4398264"/>
              <a:ext cx="2911053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100" b="0" dirty="0">
                  <a:solidFill>
                    <a:srgbClr val="F6F6F6"/>
                  </a:solidFill>
                  <a:latin typeface="Aptos"/>
                </a:rPr>
                <a:t>Which city category contributes the most sales?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650022F-AEBA-CD5D-AC68-8B83C564F1A9}"/>
              </a:ext>
            </a:extLst>
          </p:cNvPr>
          <p:cNvGrpSpPr/>
          <p:nvPr/>
        </p:nvGrpSpPr>
        <p:grpSpPr>
          <a:xfrm>
            <a:off x="7223760" y="4078224"/>
            <a:ext cx="3822191" cy="694944"/>
            <a:chOff x="7223760" y="4078224"/>
            <a:chExt cx="3822191" cy="694944"/>
          </a:xfrm>
        </p:grpSpPr>
        <p:sp>
          <p:nvSpPr>
            <p:cNvPr id="38" name="Rounded Rectangle 37"/>
            <p:cNvSpPr/>
            <p:nvPr/>
          </p:nvSpPr>
          <p:spPr>
            <a:xfrm>
              <a:off x="7223760" y="4078224"/>
              <a:ext cx="3822191" cy="694944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223760" y="4078224"/>
              <a:ext cx="64008" cy="69494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8117F2A-4B70-C17E-7FFD-B61E56091FA1}"/>
              </a:ext>
            </a:extLst>
          </p:cNvPr>
          <p:cNvGrpSpPr/>
          <p:nvPr/>
        </p:nvGrpSpPr>
        <p:grpSpPr>
          <a:xfrm>
            <a:off x="7452360" y="4187952"/>
            <a:ext cx="3379130" cy="379589"/>
            <a:chOff x="7452360" y="4187952"/>
            <a:chExt cx="3379130" cy="379589"/>
          </a:xfrm>
        </p:grpSpPr>
        <p:sp>
          <p:nvSpPr>
            <p:cNvPr id="40" name="TextBox 39"/>
            <p:cNvSpPr txBox="1"/>
            <p:nvPr/>
          </p:nvSpPr>
          <p:spPr>
            <a:xfrm>
              <a:off x="7452360" y="4187952"/>
              <a:ext cx="910377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200" b="1">
                  <a:solidFill>
                    <a:srgbClr val="FF6600"/>
                  </a:solidFill>
                  <a:latin typeface="Aptos"/>
                </a:rPr>
                <a:t>GEOGRAPHY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452360" y="4398264"/>
              <a:ext cx="3379130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100" b="0">
                  <a:solidFill>
                    <a:srgbClr val="F6F6F6"/>
                  </a:solidFill>
                  <a:latin typeface="Aptos"/>
                </a:rPr>
                <a:t>Does spending differ across City Categories A, B and C?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F0DB9F1-03AC-83A9-CCE3-57B4BA9A0359}"/>
              </a:ext>
            </a:extLst>
          </p:cNvPr>
          <p:cNvGrpSpPr/>
          <p:nvPr/>
        </p:nvGrpSpPr>
        <p:grpSpPr>
          <a:xfrm>
            <a:off x="3127248" y="4937760"/>
            <a:ext cx="3822191" cy="694944"/>
            <a:chOff x="3127248" y="4937760"/>
            <a:chExt cx="3822191" cy="694944"/>
          </a:xfrm>
        </p:grpSpPr>
        <p:sp>
          <p:nvSpPr>
            <p:cNvPr id="42" name="Rounded Rectangle 41"/>
            <p:cNvSpPr/>
            <p:nvPr/>
          </p:nvSpPr>
          <p:spPr>
            <a:xfrm>
              <a:off x="3127248" y="4937760"/>
              <a:ext cx="3822191" cy="694944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127248" y="4937760"/>
              <a:ext cx="64008" cy="694944"/>
            </a:xfrm>
            <a:prstGeom prst="rect">
              <a:avLst/>
            </a:prstGeom>
            <a:solidFill>
              <a:srgbClr val="4B1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0DD4619-4562-4861-F491-22927F6AA9DD}"/>
              </a:ext>
            </a:extLst>
          </p:cNvPr>
          <p:cNvGrpSpPr/>
          <p:nvPr/>
        </p:nvGrpSpPr>
        <p:grpSpPr>
          <a:xfrm>
            <a:off x="3355848" y="5047488"/>
            <a:ext cx="2750753" cy="379589"/>
            <a:chOff x="3355848" y="5047488"/>
            <a:chExt cx="2750753" cy="379589"/>
          </a:xfrm>
        </p:grpSpPr>
        <p:sp>
          <p:nvSpPr>
            <p:cNvPr id="44" name="TextBox 43"/>
            <p:cNvSpPr txBox="1"/>
            <p:nvPr/>
          </p:nvSpPr>
          <p:spPr>
            <a:xfrm>
              <a:off x="3355848" y="5047488"/>
              <a:ext cx="735714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200" b="1" dirty="0">
                  <a:solidFill>
                    <a:srgbClr val="FF6600"/>
                  </a:solidFill>
                  <a:latin typeface="Aptos"/>
                </a:rPr>
                <a:t>BEHAVIOR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355848" y="5257800"/>
              <a:ext cx="2750753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100" b="0" dirty="0">
                  <a:solidFill>
                    <a:srgbClr val="F6F6F6"/>
                  </a:solidFill>
                  <a:latin typeface="Aptos"/>
                </a:rPr>
                <a:t>Does city tenure relate to purchase behavior?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BF81DE2-F7E4-A230-AC93-70E31B6A8017}"/>
              </a:ext>
            </a:extLst>
          </p:cNvPr>
          <p:cNvGrpSpPr/>
          <p:nvPr/>
        </p:nvGrpSpPr>
        <p:grpSpPr>
          <a:xfrm>
            <a:off x="7223760" y="4937760"/>
            <a:ext cx="3822191" cy="694944"/>
            <a:chOff x="7223760" y="4937760"/>
            <a:chExt cx="3822191" cy="694944"/>
          </a:xfrm>
        </p:grpSpPr>
        <p:sp>
          <p:nvSpPr>
            <p:cNvPr id="46" name="Rounded Rectangle 45"/>
            <p:cNvSpPr/>
            <p:nvPr/>
          </p:nvSpPr>
          <p:spPr>
            <a:xfrm>
              <a:off x="7223760" y="4937760"/>
              <a:ext cx="3822191" cy="694944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223760" y="4937760"/>
              <a:ext cx="64008" cy="694944"/>
            </a:xfrm>
            <a:prstGeom prst="rect">
              <a:avLst/>
            </a:prstGeom>
            <a:solidFill>
              <a:srgbClr val="4C19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AA3A829-F1C0-C2B0-F273-CC3FF72E370C}"/>
              </a:ext>
            </a:extLst>
          </p:cNvPr>
          <p:cNvGrpSpPr/>
          <p:nvPr/>
        </p:nvGrpSpPr>
        <p:grpSpPr>
          <a:xfrm>
            <a:off x="7452360" y="5047488"/>
            <a:ext cx="3255699" cy="379589"/>
            <a:chOff x="7452360" y="5047488"/>
            <a:chExt cx="3255699" cy="379589"/>
          </a:xfrm>
        </p:grpSpPr>
        <p:sp>
          <p:nvSpPr>
            <p:cNvPr id="48" name="TextBox 47"/>
            <p:cNvSpPr txBox="1"/>
            <p:nvPr/>
          </p:nvSpPr>
          <p:spPr>
            <a:xfrm>
              <a:off x="7452360" y="5047488"/>
              <a:ext cx="703334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200" b="1" dirty="0">
                  <a:solidFill>
                    <a:srgbClr val="FF6600"/>
                  </a:solidFill>
                  <a:latin typeface="Aptos"/>
                </a:rPr>
                <a:t>PRODUCT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452360" y="5257800"/>
              <a:ext cx="3255699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100" b="0" dirty="0">
                  <a:solidFill>
                    <a:srgbClr val="F6F6F6"/>
                  </a:solidFill>
                  <a:latin typeface="Aptos"/>
                </a:rPr>
                <a:t>Which product categories generate the highest sales?</a:t>
              </a:r>
            </a:p>
          </p:txBody>
        </p:sp>
      </p:grpSp>
      <p:sp>
        <p:nvSpPr>
          <p:cNvPr id="50" name="Hexagon 49"/>
          <p:cNvSpPr/>
          <p:nvPr/>
        </p:nvSpPr>
        <p:spPr>
          <a:xfrm>
            <a:off x="9308592" y="5797296"/>
            <a:ext cx="1828800" cy="685800"/>
          </a:xfrm>
          <a:prstGeom prst="hexagon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832819" y="6055557"/>
            <a:ext cx="875240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 dirty="0">
                <a:solidFill>
                  <a:srgbClr val="0A0A0A"/>
                </a:solidFill>
                <a:latin typeface="Aptos"/>
              </a:rPr>
              <a:t>8 QUESTIONS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10561320" y="-182880"/>
            <a:ext cx="1737360" cy="502920"/>
          </a:xfrm>
          <a:prstGeom prst="parallelogram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10972800" y="164592"/>
            <a:ext cx="731520" cy="164592"/>
          </a:xfrm>
          <a:prstGeom prst="parallelogram">
            <a:avLst/>
          </a:prstGeom>
          <a:solidFill>
            <a:srgbClr val="4B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87382" y="237744"/>
            <a:ext cx="120545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 dirty="0">
                <a:solidFill>
                  <a:srgbClr val="A5A5A5"/>
                </a:solidFill>
                <a:latin typeface="Aptos"/>
              </a:rPr>
              <a:t>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512064"/>
            <a:ext cx="320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6600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85800"/>
            <a:ext cx="1267976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dirty="0">
                <a:solidFill>
                  <a:srgbClr val="FF6600"/>
                </a:solidFill>
                <a:latin typeface="Aptos"/>
              </a:rPr>
              <a:t>04 / MEASUREMENT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87552"/>
            <a:ext cx="2720232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 dirty="0">
                <a:solidFill>
                  <a:srgbClr val="F6F6F6"/>
                </a:solidFill>
                <a:latin typeface="Aptos"/>
              </a:rPr>
              <a:t>KPI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54480"/>
            <a:ext cx="641002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A5A5A5"/>
                </a:solidFill>
                <a:latin typeface="Aptos"/>
              </a:rPr>
              <a:t>Six measures turn the business questions into a measurable scorecard</a:t>
            </a:r>
            <a:r>
              <a:rPr lang="en-IN" sz="1600" b="0" dirty="0">
                <a:solidFill>
                  <a:srgbClr val="A5A5A5"/>
                </a:solidFill>
                <a:latin typeface="Aptos"/>
              </a:rPr>
              <a:t>.</a:t>
            </a:r>
            <a:endParaRPr sz="1600" b="0" dirty="0">
              <a:solidFill>
                <a:srgbClr val="A5A5A5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0352" y="1938527"/>
            <a:ext cx="11109960" cy="63341"/>
          </a:xfrm>
          <a:prstGeom prst="rect">
            <a:avLst/>
          </a:prstGeom>
          <a:solidFill>
            <a:srgbClr val="34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6473952"/>
            <a:ext cx="36576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A5A5A5"/>
                </a:solidFill>
                <a:latin typeface="Aptos"/>
              </a:rPr>
              <a:t>BLACK FRIDAY  /  SALES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73952"/>
            <a:ext cx="8686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00" b="1">
                <a:solidFill>
                  <a:srgbClr val="A5A5A5"/>
                </a:solidFill>
                <a:latin typeface="Aptos"/>
              </a:rPr>
              <a:t>04 / 06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FCC7D16-D3DD-C50A-0A21-187CAB6C1E0D}"/>
              </a:ext>
            </a:extLst>
          </p:cNvPr>
          <p:cNvGrpSpPr/>
          <p:nvPr/>
        </p:nvGrpSpPr>
        <p:grpSpPr>
          <a:xfrm>
            <a:off x="4818888" y="2907792"/>
            <a:ext cx="2011680" cy="2011680"/>
            <a:chOff x="4818888" y="2907792"/>
            <a:chExt cx="2011680" cy="2011680"/>
          </a:xfrm>
        </p:grpSpPr>
        <p:sp>
          <p:nvSpPr>
            <p:cNvPr id="13" name="Oval 12"/>
            <p:cNvSpPr/>
            <p:nvPr/>
          </p:nvSpPr>
          <p:spPr>
            <a:xfrm>
              <a:off x="4818888" y="2907792"/>
              <a:ext cx="2011680" cy="2011680"/>
            </a:xfrm>
            <a:prstGeom prst="ellipse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Oval 13"/>
            <p:cNvSpPr/>
            <p:nvPr/>
          </p:nvSpPr>
          <p:spPr>
            <a:xfrm>
              <a:off x="5138928" y="3227832"/>
              <a:ext cx="1371600" cy="137160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Oval 14"/>
            <p:cNvSpPr/>
            <p:nvPr/>
          </p:nvSpPr>
          <p:spPr>
            <a:xfrm>
              <a:off x="5486400" y="3575304"/>
              <a:ext cx="676656" cy="676656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597701" y="3745468"/>
              <a:ext cx="468077" cy="36933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2400" b="1" dirty="0">
                  <a:solidFill>
                    <a:srgbClr val="0A0A0A"/>
                  </a:solidFill>
                  <a:latin typeface="Aptos"/>
                </a:rPr>
                <a:t>KPI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8D838CA-37F4-98D5-D306-A4448DCDE475}"/>
              </a:ext>
            </a:extLst>
          </p:cNvPr>
          <p:cNvGrpSpPr/>
          <p:nvPr/>
        </p:nvGrpSpPr>
        <p:grpSpPr>
          <a:xfrm>
            <a:off x="2057400" y="4983480"/>
            <a:ext cx="3246120" cy="841248"/>
            <a:chOff x="2057400" y="4983480"/>
            <a:chExt cx="3246120" cy="841248"/>
          </a:xfrm>
        </p:grpSpPr>
        <p:sp>
          <p:nvSpPr>
            <p:cNvPr id="37" name="Rounded Rectangle 36"/>
            <p:cNvSpPr/>
            <p:nvPr/>
          </p:nvSpPr>
          <p:spPr>
            <a:xfrm>
              <a:off x="2057400" y="4983480"/>
              <a:ext cx="3246120" cy="841248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Oval 37"/>
            <p:cNvSpPr/>
            <p:nvPr/>
          </p:nvSpPr>
          <p:spPr>
            <a:xfrm>
              <a:off x="2221992" y="5184648"/>
              <a:ext cx="329184" cy="329184"/>
            </a:xfrm>
            <a:prstGeom prst="ellipse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304831" y="5285232"/>
              <a:ext cx="163506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rgbClr val="FF6600"/>
                  </a:solidFill>
                  <a:latin typeface="Aptos"/>
                </a:rPr>
                <a:t>05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56C9DF4-FFBC-9627-752A-9D7337DBEAD1}"/>
              </a:ext>
            </a:extLst>
          </p:cNvPr>
          <p:cNvGrpSpPr/>
          <p:nvPr/>
        </p:nvGrpSpPr>
        <p:grpSpPr>
          <a:xfrm>
            <a:off x="2679192" y="5129784"/>
            <a:ext cx="2069284" cy="461885"/>
            <a:chOff x="2679192" y="5129784"/>
            <a:chExt cx="2069284" cy="461885"/>
          </a:xfrm>
        </p:grpSpPr>
        <p:sp>
          <p:nvSpPr>
            <p:cNvPr id="40" name="TextBox 39"/>
            <p:cNvSpPr txBox="1"/>
            <p:nvPr/>
          </p:nvSpPr>
          <p:spPr>
            <a:xfrm>
              <a:off x="2679192" y="5129784"/>
              <a:ext cx="2069284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F6F6F6"/>
                  </a:solidFill>
                  <a:latin typeface="Aptos"/>
                </a:rPr>
                <a:t>TOP </a:t>
              </a:r>
              <a:r>
                <a:rPr sz="1400" b="1" dirty="0">
                  <a:solidFill>
                    <a:srgbClr val="F6F6F6"/>
                  </a:solidFill>
                  <a:latin typeface="Aptos"/>
                </a:rPr>
                <a:t>CITY CONTRIBUTION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679192" y="5422392"/>
              <a:ext cx="1274388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100" b="0" dirty="0">
                  <a:solidFill>
                    <a:srgbClr val="A5A5A5"/>
                  </a:solidFill>
                  <a:latin typeface="Aptos"/>
                </a:rPr>
                <a:t>Share of sales by city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41B5BBA-CF1E-22D9-81C4-10D6668FF180}"/>
              </a:ext>
            </a:extLst>
          </p:cNvPr>
          <p:cNvGrpSpPr/>
          <p:nvPr/>
        </p:nvGrpSpPr>
        <p:grpSpPr>
          <a:xfrm>
            <a:off x="6382512" y="4983480"/>
            <a:ext cx="3246120" cy="841248"/>
            <a:chOff x="6382512" y="4983480"/>
            <a:chExt cx="3246120" cy="841248"/>
          </a:xfrm>
        </p:grpSpPr>
        <p:sp>
          <p:nvSpPr>
            <p:cNvPr id="42" name="Rounded Rectangle 41"/>
            <p:cNvSpPr/>
            <p:nvPr/>
          </p:nvSpPr>
          <p:spPr>
            <a:xfrm>
              <a:off x="6382512" y="4983480"/>
              <a:ext cx="3246120" cy="841248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Oval 42"/>
            <p:cNvSpPr/>
            <p:nvPr/>
          </p:nvSpPr>
          <p:spPr>
            <a:xfrm>
              <a:off x="6547104" y="5184648"/>
              <a:ext cx="329184" cy="329184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629943" y="5285232"/>
              <a:ext cx="163506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rgbClr val="0A0A0A"/>
                  </a:solidFill>
                  <a:latin typeface="Aptos"/>
                </a:rPr>
                <a:t>06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5C431B7-C34F-AA9F-503E-CBF14F33153A}"/>
              </a:ext>
            </a:extLst>
          </p:cNvPr>
          <p:cNvGrpSpPr/>
          <p:nvPr/>
        </p:nvGrpSpPr>
        <p:grpSpPr>
          <a:xfrm>
            <a:off x="7004304" y="5129784"/>
            <a:ext cx="2472408" cy="461885"/>
            <a:chOff x="7004304" y="5129784"/>
            <a:chExt cx="2472408" cy="461885"/>
          </a:xfrm>
        </p:grpSpPr>
        <p:sp>
          <p:nvSpPr>
            <p:cNvPr id="45" name="TextBox 44"/>
            <p:cNvSpPr txBox="1"/>
            <p:nvPr/>
          </p:nvSpPr>
          <p:spPr>
            <a:xfrm>
              <a:off x="7004304" y="5129784"/>
              <a:ext cx="2472408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IN" sz="1400" b="1" dirty="0">
                  <a:solidFill>
                    <a:srgbClr val="F6F6F6"/>
                  </a:solidFill>
                  <a:latin typeface="Aptos"/>
                </a:rPr>
                <a:t>HIGH-VALUE SEGMENT SHARE</a:t>
              </a:r>
              <a:endParaRPr sz="1400" b="1" dirty="0">
                <a:solidFill>
                  <a:srgbClr val="F6F6F6"/>
                </a:solidFill>
                <a:latin typeface="Aptos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004304" y="5422392"/>
              <a:ext cx="1793761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100" b="0" dirty="0">
                  <a:solidFill>
                    <a:srgbClr val="A5A5A5"/>
                  </a:solidFill>
                  <a:latin typeface="Aptos"/>
                </a:rPr>
                <a:t>Which segments matter most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2E7500F-BEF4-0B65-A218-3DDA759C8201}"/>
              </a:ext>
            </a:extLst>
          </p:cNvPr>
          <p:cNvGrpSpPr/>
          <p:nvPr/>
        </p:nvGrpSpPr>
        <p:grpSpPr>
          <a:xfrm>
            <a:off x="594360" y="2377440"/>
            <a:ext cx="3355848" cy="914400"/>
            <a:chOff x="594360" y="2377440"/>
            <a:chExt cx="3355848" cy="914400"/>
          </a:xfrm>
        </p:grpSpPr>
        <p:sp>
          <p:nvSpPr>
            <p:cNvPr id="17" name="Rounded Rectangle 16"/>
            <p:cNvSpPr/>
            <p:nvPr/>
          </p:nvSpPr>
          <p:spPr>
            <a:xfrm>
              <a:off x="594360" y="2377440"/>
              <a:ext cx="3246120" cy="914400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Oval 17"/>
            <p:cNvSpPr/>
            <p:nvPr/>
          </p:nvSpPr>
          <p:spPr>
            <a:xfrm>
              <a:off x="758952" y="2578608"/>
              <a:ext cx="329184" cy="329184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41791" y="2679192"/>
              <a:ext cx="163506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 dirty="0">
                  <a:solidFill>
                    <a:srgbClr val="0A0A0A"/>
                  </a:solidFill>
                  <a:latin typeface="Aptos"/>
                </a:rPr>
                <a:t>01</a:t>
              </a:r>
            </a:p>
          </p:txBody>
        </p:sp>
        <p:sp>
          <p:nvSpPr>
            <p:cNvPr id="47" name="Oval 46"/>
            <p:cNvSpPr/>
            <p:nvPr/>
          </p:nvSpPr>
          <p:spPr>
            <a:xfrm>
              <a:off x="3840480" y="2852928"/>
              <a:ext cx="109728" cy="109728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19FB888-AE47-BABC-64C2-66BDBEE31878}"/>
              </a:ext>
            </a:extLst>
          </p:cNvPr>
          <p:cNvGrpSpPr/>
          <p:nvPr/>
        </p:nvGrpSpPr>
        <p:grpSpPr>
          <a:xfrm>
            <a:off x="8028431" y="2377440"/>
            <a:ext cx="3282697" cy="914400"/>
            <a:chOff x="8028431" y="2377440"/>
            <a:chExt cx="3282697" cy="914400"/>
          </a:xfrm>
        </p:grpSpPr>
        <p:sp>
          <p:nvSpPr>
            <p:cNvPr id="22" name="Rounded Rectangle 21"/>
            <p:cNvSpPr/>
            <p:nvPr/>
          </p:nvSpPr>
          <p:spPr>
            <a:xfrm>
              <a:off x="8065008" y="2377440"/>
              <a:ext cx="3246120" cy="914400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Oval 22"/>
            <p:cNvSpPr/>
            <p:nvPr/>
          </p:nvSpPr>
          <p:spPr>
            <a:xfrm>
              <a:off x="8229600" y="2578608"/>
              <a:ext cx="329184" cy="329184"/>
            </a:xfrm>
            <a:prstGeom prst="ellipse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312439" y="2679192"/>
              <a:ext cx="163506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rgbClr val="FF6600"/>
                  </a:solidFill>
                  <a:latin typeface="Aptos"/>
                </a:rPr>
                <a:t>02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8028431" y="2852928"/>
              <a:ext cx="109728" cy="109728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65657C8-8569-2707-52CE-3AC20D2B0E62}"/>
              </a:ext>
            </a:extLst>
          </p:cNvPr>
          <p:cNvGrpSpPr/>
          <p:nvPr/>
        </p:nvGrpSpPr>
        <p:grpSpPr>
          <a:xfrm>
            <a:off x="594360" y="3657600"/>
            <a:ext cx="3355848" cy="914400"/>
            <a:chOff x="594360" y="3657600"/>
            <a:chExt cx="3355848" cy="914400"/>
          </a:xfrm>
        </p:grpSpPr>
        <p:sp>
          <p:nvSpPr>
            <p:cNvPr id="27" name="Rounded Rectangle 26"/>
            <p:cNvSpPr/>
            <p:nvPr/>
          </p:nvSpPr>
          <p:spPr>
            <a:xfrm>
              <a:off x="594360" y="3657600"/>
              <a:ext cx="3246120" cy="914400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Oval 27"/>
            <p:cNvSpPr/>
            <p:nvPr/>
          </p:nvSpPr>
          <p:spPr>
            <a:xfrm>
              <a:off x="758952" y="3858768"/>
              <a:ext cx="329184" cy="329184"/>
            </a:xfrm>
            <a:prstGeom prst="ellipse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41791" y="3959352"/>
              <a:ext cx="163506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rgbClr val="FF6600"/>
                  </a:solidFill>
                  <a:latin typeface="Aptos"/>
                </a:rPr>
                <a:t>03</a:t>
              </a:r>
            </a:p>
          </p:txBody>
        </p:sp>
        <p:sp>
          <p:nvSpPr>
            <p:cNvPr id="49" name="Oval 48"/>
            <p:cNvSpPr/>
            <p:nvPr/>
          </p:nvSpPr>
          <p:spPr>
            <a:xfrm>
              <a:off x="3840480" y="4224528"/>
              <a:ext cx="109728" cy="109728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60BC279-C72F-1C4A-6AFD-046EDB58EBD5}"/>
              </a:ext>
            </a:extLst>
          </p:cNvPr>
          <p:cNvGrpSpPr/>
          <p:nvPr/>
        </p:nvGrpSpPr>
        <p:grpSpPr>
          <a:xfrm>
            <a:off x="8028431" y="3657600"/>
            <a:ext cx="3282697" cy="914400"/>
            <a:chOff x="8028431" y="3657600"/>
            <a:chExt cx="3282697" cy="914400"/>
          </a:xfrm>
        </p:grpSpPr>
        <p:sp>
          <p:nvSpPr>
            <p:cNvPr id="32" name="Rounded Rectangle 31"/>
            <p:cNvSpPr/>
            <p:nvPr/>
          </p:nvSpPr>
          <p:spPr>
            <a:xfrm>
              <a:off x="8065008" y="3657600"/>
              <a:ext cx="3246120" cy="914400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Oval 32"/>
            <p:cNvSpPr/>
            <p:nvPr/>
          </p:nvSpPr>
          <p:spPr>
            <a:xfrm>
              <a:off x="8229600" y="3858768"/>
              <a:ext cx="329184" cy="329184"/>
            </a:xfrm>
            <a:prstGeom prst="ellipse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312439" y="3959352"/>
              <a:ext cx="163506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rgbClr val="FF6600"/>
                  </a:solidFill>
                  <a:latin typeface="Aptos"/>
                </a:rPr>
                <a:t>04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8028431" y="4224528"/>
              <a:ext cx="109728" cy="109728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533F5B7-5FAD-D8AB-3438-518AD88B1DF5}"/>
              </a:ext>
            </a:extLst>
          </p:cNvPr>
          <p:cNvGrpSpPr/>
          <p:nvPr/>
        </p:nvGrpSpPr>
        <p:grpSpPr>
          <a:xfrm>
            <a:off x="1187028" y="2523744"/>
            <a:ext cx="1197444" cy="461884"/>
            <a:chOff x="1187028" y="2523744"/>
            <a:chExt cx="1197444" cy="461884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7A0BE55-D457-4812-DC5E-6C6F9B429911}"/>
                </a:ext>
              </a:extLst>
            </p:cNvPr>
            <p:cNvSpPr txBox="1"/>
            <p:nvPr/>
          </p:nvSpPr>
          <p:spPr>
            <a:xfrm>
              <a:off x="1192916" y="2523744"/>
              <a:ext cx="1056508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 b="1" dirty="0">
                  <a:solidFill>
                    <a:schemeClr val="bg1">
                      <a:lumMod val="95000"/>
                    </a:schemeClr>
                  </a:solidFill>
                  <a:latin typeface="Aptos"/>
                </a:rPr>
                <a:t>TOTAL SALES</a:t>
              </a:r>
              <a:endParaRPr sz="1400" b="1" dirty="0">
                <a:solidFill>
                  <a:schemeClr val="bg1">
                    <a:lumMod val="95000"/>
                  </a:schemeClr>
                </a:solidFill>
                <a:latin typeface="Aptos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01B9A47-C832-7E0B-2AFA-4FF7A1592215}"/>
                </a:ext>
              </a:extLst>
            </p:cNvPr>
            <p:cNvSpPr txBox="1"/>
            <p:nvPr/>
          </p:nvSpPr>
          <p:spPr>
            <a:xfrm>
              <a:off x="1187028" y="2816351"/>
              <a:ext cx="1197444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100" b="0" dirty="0">
                  <a:solidFill>
                    <a:srgbClr val="A5A5A5"/>
                  </a:solidFill>
                  <a:latin typeface="Aptos"/>
                </a:rPr>
                <a:t>Overall, Sales value</a:t>
              </a:r>
              <a:endParaRPr sz="1100" b="0" dirty="0">
                <a:solidFill>
                  <a:srgbClr val="A5A5A5"/>
                </a:solidFill>
                <a:latin typeface="Aptos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E96C838-C216-9490-96CF-7F1C12CD4270}"/>
              </a:ext>
            </a:extLst>
          </p:cNvPr>
          <p:cNvGrpSpPr/>
          <p:nvPr/>
        </p:nvGrpSpPr>
        <p:grpSpPr>
          <a:xfrm>
            <a:off x="1155196" y="3803904"/>
            <a:ext cx="2000224" cy="475488"/>
            <a:chOff x="1155196" y="3803904"/>
            <a:chExt cx="2000224" cy="475488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4983485-26AB-3478-7800-3A6F2168EA26}"/>
                </a:ext>
              </a:extLst>
            </p:cNvPr>
            <p:cNvSpPr txBox="1"/>
            <p:nvPr/>
          </p:nvSpPr>
          <p:spPr>
            <a:xfrm>
              <a:off x="1166734" y="3803904"/>
              <a:ext cx="1988686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F6F6F6"/>
                  </a:solidFill>
                  <a:latin typeface="Aptos"/>
                </a:rPr>
                <a:t>PURCHASE FREQUENCY</a:t>
              </a:r>
              <a:endParaRPr sz="1400" b="1" dirty="0">
                <a:solidFill>
                  <a:srgbClr val="F6F6F6"/>
                </a:solidFill>
                <a:latin typeface="Aptos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B362E02-34BB-70D5-AC59-76EEB2CD0C66}"/>
                </a:ext>
              </a:extLst>
            </p:cNvPr>
            <p:cNvSpPr txBox="1"/>
            <p:nvPr/>
          </p:nvSpPr>
          <p:spPr>
            <a:xfrm>
              <a:off x="1155196" y="4110115"/>
              <a:ext cx="1407437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100" b="0" dirty="0">
                  <a:solidFill>
                    <a:srgbClr val="A5A5A5"/>
                  </a:solidFill>
                  <a:latin typeface="Aptos"/>
                </a:rPr>
                <a:t>Strength of repeat buys</a:t>
              </a:r>
              <a:endParaRPr sz="1100" b="0" dirty="0">
                <a:solidFill>
                  <a:srgbClr val="A5A5A5"/>
                </a:solidFill>
                <a:latin typeface="Aptos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BF048FF-0A08-DE9C-3DA0-C6B586FBB801}"/>
              </a:ext>
            </a:extLst>
          </p:cNvPr>
          <p:cNvGrpSpPr/>
          <p:nvPr/>
        </p:nvGrpSpPr>
        <p:grpSpPr>
          <a:xfrm>
            <a:off x="8641623" y="2523744"/>
            <a:ext cx="2435475" cy="459542"/>
            <a:chOff x="8641623" y="2523744"/>
            <a:chExt cx="2435475" cy="459542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3C492C9-AFDE-A423-B870-1D45F6B69DBE}"/>
                </a:ext>
              </a:extLst>
            </p:cNvPr>
            <p:cNvSpPr txBox="1"/>
            <p:nvPr/>
          </p:nvSpPr>
          <p:spPr>
            <a:xfrm>
              <a:off x="8641623" y="2523744"/>
              <a:ext cx="243547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 dirty="0">
                  <a:solidFill>
                    <a:srgbClr val="F6F6F6"/>
                  </a:solidFill>
                  <a:latin typeface="Aptos"/>
                </a:rPr>
                <a:t>AVG. PURCHASE / CUSTOMER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1DD61C4-7F15-ED7D-A586-E1F6D7873F8F}"/>
                </a:ext>
              </a:extLst>
            </p:cNvPr>
            <p:cNvSpPr txBox="1"/>
            <p:nvPr/>
          </p:nvSpPr>
          <p:spPr>
            <a:xfrm>
              <a:off x="8648038" y="2814009"/>
              <a:ext cx="1821011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100" b="0" dirty="0">
                  <a:solidFill>
                    <a:srgbClr val="A5A5A5"/>
                  </a:solidFill>
                  <a:latin typeface="Aptos"/>
                </a:rPr>
                <a:t>Typical customer contribution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A77F0C0-2151-8F96-5585-BE9D9A6B8356}"/>
              </a:ext>
            </a:extLst>
          </p:cNvPr>
          <p:cNvGrpSpPr/>
          <p:nvPr/>
        </p:nvGrpSpPr>
        <p:grpSpPr>
          <a:xfrm>
            <a:off x="8624715" y="3803904"/>
            <a:ext cx="1703993" cy="416612"/>
            <a:chOff x="8624715" y="3803904"/>
            <a:chExt cx="1703993" cy="416612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1E3D392-847A-9BD9-1BDE-7AEEDF1EC6F0}"/>
                </a:ext>
              </a:extLst>
            </p:cNvPr>
            <p:cNvSpPr txBox="1"/>
            <p:nvPr/>
          </p:nvSpPr>
          <p:spPr>
            <a:xfrm>
              <a:off x="8624715" y="4051239"/>
              <a:ext cx="1703993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100" b="0" dirty="0">
                  <a:solidFill>
                    <a:srgbClr val="A5A5A5"/>
                  </a:solidFill>
                  <a:latin typeface="Aptos"/>
                </a:rPr>
                <a:t>Reach of a product category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140FD74-CE91-A24D-1107-7621EF065D17}"/>
                </a:ext>
              </a:extLst>
            </p:cNvPr>
            <p:cNvSpPr txBox="1"/>
            <p:nvPr/>
          </p:nvSpPr>
          <p:spPr>
            <a:xfrm>
              <a:off x="8641623" y="3803904"/>
              <a:ext cx="1185709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F6F6F6"/>
                  </a:solidFill>
                  <a:latin typeface="Aptos"/>
                </a:rPr>
                <a:t>TOP PRODUCT</a:t>
              </a:r>
              <a:endParaRPr sz="1400" b="1" dirty="0">
                <a:solidFill>
                  <a:srgbClr val="F6F6F6"/>
                </a:solidFill>
                <a:latin typeface="Apto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10561320" y="-182880"/>
            <a:ext cx="1737360" cy="502920"/>
          </a:xfrm>
          <a:prstGeom prst="parallelogram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10972800" y="164592"/>
            <a:ext cx="731520" cy="164592"/>
          </a:xfrm>
          <a:prstGeom prst="parallelogram">
            <a:avLst/>
          </a:prstGeom>
          <a:solidFill>
            <a:srgbClr val="4B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87382" y="237744"/>
            <a:ext cx="120545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 dirty="0">
                <a:solidFill>
                  <a:srgbClr val="A5A5A5"/>
                </a:solidFill>
                <a:latin typeface="Aptos"/>
              </a:rPr>
              <a:t>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512064"/>
            <a:ext cx="320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6600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85800"/>
            <a:ext cx="1057982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dirty="0">
                <a:solidFill>
                  <a:srgbClr val="FF6600"/>
                </a:solidFill>
                <a:latin typeface="Aptos"/>
              </a:rPr>
              <a:t>05 /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87552"/>
            <a:ext cx="3511218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 dirty="0">
                <a:solidFill>
                  <a:srgbClr val="F6F6F6"/>
                </a:solidFill>
                <a:latin typeface="Aptos"/>
              </a:rPr>
              <a:t>Hypotheses to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54480"/>
            <a:ext cx="635731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A5A5A5"/>
                </a:solidFill>
                <a:latin typeface="Aptos"/>
              </a:rPr>
              <a:t>Six testable statements move the project from assumptions to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938527"/>
            <a:ext cx="11109960" cy="63341"/>
          </a:xfrm>
          <a:prstGeom prst="rect">
            <a:avLst/>
          </a:prstGeom>
          <a:solidFill>
            <a:srgbClr val="34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6473952"/>
            <a:ext cx="36576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1">
                <a:solidFill>
                  <a:srgbClr val="A5A5A5"/>
                </a:solidFill>
                <a:latin typeface="Aptos"/>
              </a:rPr>
              <a:t>BLACK FRIDAY  /  SALES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73952"/>
            <a:ext cx="8686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00" b="1">
                <a:solidFill>
                  <a:srgbClr val="A5A5A5"/>
                </a:solidFill>
                <a:latin typeface="Aptos"/>
              </a:rPr>
              <a:t>05 / 06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5B294B6-857C-E5F8-8974-0A1F3548F6AF}"/>
              </a:ext>
            </a:extLst>
          </p:cNvPr>
          <p:cNvGrpSpPr/>
          <p:nvPr/>
        </p:nvGrpSpPr>
        <p:grpSpPr>
          <a:xfrm>
            <a:off x="658368" y="2286000"/>
            <a:ext cx="2148840" cy="502920"/>
            <a:chOff x="658368" y="2286000"/>
            <a:chExt cx="2148840" cy="502920"/>
          </a:xfrm>
        </p:grpSpPr>
        <p:sp>
          <p:nvSpPr>
            <p:cNvPr id="13" name="Hexagon 12"/>
            <p:cNvSpPr/>
            <p:nvPr/>
          </p:nvSpPr>
          <p:spPr>
            <a:xfrm>
              <a:off x="658368" y="2286000"/>
              <a:ext cx="2148840" cy="502920"/>
            </a:xfrm>
            <a:prstGeom prst="hexagon">
              <a:avLst/>
            </a:prstGeom>
            <a:solidFill>
              <a:srgbClr val="FF6600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22959" y="2459736"/>
              <a:ext cx="163506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200" b="1" dirty="0">
                  <a:solidFill>
                    <a:srgbClr val="0A0A0A"/>
                  </a:solidFill>
                  <a:latin typeface="Aptos"/>
                </a:rPr>
                <a:t>01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172689" y="2405538"/>
            <a:ext cx="121841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 dirty="0">
                <a:solidFill>
                  <a:srgbClr val="0A0A0A"/>
                </a:solidFill>
                <a:latin typeface="Aptos"/>
              </a:rPr>
              <a:t>HYPOTHESIS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25496" y="2432304"/>
            <a:ext cx="566928" cy="219456"/>
          </a:xfrm>
          <a:prstGeom prst="rightArrow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96ECAAE-ACF9-8B22-1218-F5536F0A3E70}"/>
              </a:ext>
            </a:extLst>
          </p:cNvPr>
          <p:cNvGrpSpPr/>
          <p:nvPr/>
        </p:nvGrpSpPr>
        <p:grpSpPr>
          <a:xfrm>
            <a:off x="3447287" y="2286000"/>
            <a:ext cx="2148840" cy="502920"/>
            <a:chOff x="3447287" y="2286000"/>
            <a:chExt cx="2148840" cy="502920"/>
          </a:xfrm>
        </p:grpSpPr>
        <p:sp>
          <p:nvSpPr>
            <p:cNvPr id="17" name="Hexagon 16"/>
            <p:cNvSpPr/>
            <p:nvPr/>
          </p:nvSpPr>
          <p:spPr>
            <a:xfrm>
              <a:off x="3447287" y="2286000"/>
              <a:ext cx="2148840" cy="502920"/>
            </a:xfrm>
            <a:prstGeom prst="hexagon">
              <a:avLst/>
            </a:prstGeom>
            <a:solidFill>
              <a:srgbClr val="1E1E1E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611879" y="2459736"/>
              <a:ext cx="163506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200" b="1">
                  <a:solidFill>
                    <a:srgbClr val="FF6600"/>
                  </a:solidFill>
                  <a:latin typeface="Aptos"/>
                </a:rPr>
                <a:t>02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4331133" y="2405538"/>
            <a:ext cx="47936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 dirty="0">
                <a:solidFill>
                  <a:srgbClr val="F6F6F6"/>
                </a:solidFill>
                <a:latin typeface="Aptos"/>
              </a:rPr>
              <a:t>DATA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614416" y="2432304"/>
            <a:ext cx="566928" cy="219456"/>
          </a:xfrm>
          <a:prstGeom prst="rightArrow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EEBC070-C66A-784D-F9DA-86A3C2F5521B}"/>
              </a:ext>
            </a:extLst>
          </p:cNvPr>
          <p:cNvGrpSpPr/>
          <p:nvPr/>
        </p:nvGrpSpPr>
        <p:grpSpPr>
          <a:xfrm>
            <a:off x="6236207" y="2286000"/>
            <a:ext cx="2148840" cy="502920"/>
            <a:chOff x="6236207" y="2286000"/>
            <a:chExt cx="2148840" cy="502920"/>
          </a:xfrm>
        </p:grpSpPr>
        <p:sp>
          <p:nvSpPr>
            <p:cNvPr id="21" name="Hexagon 20"/>
            <p:cNvSpPr/>
            <p:nvPr/>
          </p:nvSpPr>
          <p:spPr>
            <a:xfrm>
              <a:off x="6236207" y="2286000"/>
              <a:ext cx="2148840" cy="502920"/>
            </a:xfrm>
            <a:prstGeom prst="hexagon">
              <a:avLst/>
            </a:prstGeom>
            <a:solidFill>
              <a:srgbClr val="1E1E1E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400799" y="2459736"/>
              <a:ext cx="163506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200" b="1">
                  <a:solidFill>
                    <a:srgbClr val="FF6600"/>
                  </a:solidFill>
                  <a:latin typeface="Aptos"/>
                </a:rPr>
                <a:t>03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7137012" y="2405538"/>
            <a:ext cx="44544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 dirty="0">
                <a:solidFill>
                  <a:srgbClr val="F6F6F6"/>
                </a:solidFill>
                <a:latin typeface="Aptos"/>
              </a:rPr>
              <a:t>TEST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03336" y="2432304"/>
            <a:ext cx="566928" cy="219456"/>
          </a:xfrm>
          <a:prstGeom prst="rightArrow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3D2BD39-56CD-35C6-0F2C-D7876D363CE7}"/>
              </a:ext>
            </a:extLst>
          </p:cNvPr>
          <p:cNvGrpSpPr/>
          <p:nvPr/>
        </p:nvGrpSpPr>
        <p:grpSpPr>
          <a:xfrm>
            <a:off x="9025128" y="2286000"/>
            <a:ext cx="2148840" cy="502920"/>
            <a:chOff x="9025128" y="2286000"/>
            <a:chExt cx="2148840" cy="502920"/>
          </a:xfrm>
        </p:grpSpPr>
        <p:sp>
          <p:nvSpPr>
            <p:cNvPr id="25" name="Hexagon 24"/>
            <p:cNvSpPr/>
            <p:nvPr/>
          </p:nvSpPr>
          <p:spPr>
            <a:xfrm>
              <a:off x="9025128" y="2286000"/>
              <a:ext cx="2148840" cy="502920"/>
            </a:xfrm>
            <a:prstGeom prst="hexagon">
              <a:avLst/>
            </a:prstGeom>
            <a:solidFill>
              <a:srgbClr val="1E1E1E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189719" y="2459736"/>
              <a:ext cx="163506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200" b="1" dirty="0">
                  <a:solidFill>
                    <a:srgbClr val="FF6600"/>
                  </a:solidFill>
                  <a:latin typeface="Aptos"/>
                </a:rPr>
                <a:t>04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793685" y="2405538"/>
            <a:ext cx="7099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 dirty="0">
                <a:solidFill>
                  <a:srgbClr val="F6F6F6"/>
                </a:solidFill>
                <a:latin typeface="Aptos"/>
              </a:rPr>
              <a:t>RESULT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DF50D36-A426-E244-DE37-0626F750B69D}"/>
              </a:ext>
            </a:extLst>
          </p:cNvPr>
          <p:cNvGrpSpPr/>
          <p:nvPr/>
        </p:nvGrpSpPr>
        <p:grpSpPr>
          <a:xfrm>
            <a:off x="658368" y="3035808"/>
            <a:ext cx="10661904" cy="329184"/>
            <a:chOff x="658368" y="3035808"/>
            <a:chExt cx="10661904" cy="329184"/>
          </a:xfrm>
        </p:grpSpPr>
        <p:sp>
          <p:nvSpPr>
            <p:cNvPr id="28" name="Oval 27"/>
            <p:cNvSpPr/>
            <p:nvPr/>
          </p:nvSpPr>
          <p:spPr>
            <a:xfrm>
              <a:off x="658368" y="3035808"/>
              <a:ext cx="320040" cy="320040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21406" y="3127248"/>
              <a:ext cx="193964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 dirty="0">
                  <a:solidFill>
                    <a:srgbClr val="0A0A0A"/>
                  </a:solidFill>
                  <a:latin typeface="Aptos"/>
                </a:rPr>
                <a:t>H1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115568" y="3035808"/>
              <a:ext cx="7955279" cy="329184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308592" y="3035808"/>
              <a:ext cx="2011680" cy="329184"/>
            </a:xfrm>
            <a:prstGeom prst="roundRect">
              <a:avLst/>
            </a:prstGeom>
            <a:solidFill>
              <a:srgbClr val="4B1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10063305" y="3118103"/>
            <a:ext cx="50225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 dirty="0">
                <a:solidFill>
                  <a:srgbClr val="FF8F37"/>
                </a:solidFill>
                <a:latin typeface="Aptos"/>
              </a:rPr>
              <a:t>ANOVA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70A6513-88A6-2D21-6A7C-3984A5D26F8D}"/>
              </a:ext>
            </a:extLst>
          </p:cNvPr>
          <p:cNvGrpSpPr/>
          <p:nvPr/>
        </p:nvGrpSpPr>
        <p:grpSpPr>
          <a:xfrm>
            <a:off x="658368" y="3483863"/>
            <a:ext cx="10661904" cy="329184"/>
            <a:chOff x="658368" y="3483863"/>
            <a:chExt cx="10661904" cy="329184"/>
          </a:xfrm>
        </p:grpSpPr>
        <p:sp>
          <p:nvSpPr>
            <p:cNvPr id="34" name="Oval 33"/>
            <p:cNvSpPr/>
            <p:nvPr/>
          </p:nvSpPr>
          <p:spPr>
            <a:xfrm>
              <a:off x="658368" y="3483863"/>
              <a:ext cx="320040" cy="320040"/>
            </a:xfrm>
            <a:prstGeom prst="ellipse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21406" y="3575303"/>
              <a:ext cx="193964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 dirty="0">
                  <a:solidFill>
                    <a:srgbClr val="FF6600"/>
                  </a:solidFill>
                  <a:latin typeface="Aptos"/>
                </a:rPr>
                <a:t>H2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115568" y="3483863"/>
              <a:ext cx="7955279" cy="329184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9308592" y="3483863"/>
              <a:ext cx="2011680" cy="329184"/>
            </a:xfrm>
            <a:prstGeom prst="roundRect">
              <a:avLst/>
            </a:prstGeom>
            <a:solidFill>
              <a:srgbClr val="4B1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10088665" y="3566159"/>
            <a:ext cx="451534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 dirty="0">
                <a:solidFill>
                  <a:srgbClr val="FF8F37"/>
                </a:solidFill>
                <a:latin typeface="Aptos"/>
              </a:rPr>
              <a:t>T-TEST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76D94A7-C1FA-2B79-ECCE-34559294721D}"/>
              </a:ext>
            </a:extLst>
          </p:cNvPr>
          <p:cNvGrpSpPr/>
          <p:nvPr/>
        </p:nvGrpSpPr>
        <p:grpSpPr>
          <a:xfrm>
            <a:off x="658368" y="3931920"/>
            <a:ext cx="10661904" cy="329184"/>
            <a:chOff x="658368" y="3931920"/>
            <a:chExt cx="10661904" cy="329184"/>
          </a:xfrm>
        </p:grpSpPr>
        <p:sp>
          <p:nvSpPr>
            <p:cNvPr id="40" name="Oval 39"/>
            <p:cNvSpPr/>
            <p:nvPr/>
          </p:nvSpPr>
          <p:spPr>
            <a:xfrm>
              <a:off x="658368" y="3931920"/>
              <a:ext cx="320040" cy="320040"/>
            </a:xfrm>
            <a:prstGeom prst="ellipse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21406" y="4023359"/>
              <a:ext cx="193964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 dirty="0">
                  <a:solidFill>
                    <a:srgbClr val="FF6600"/>
                  </a:solidFill>
                  <a:latin typeface="Aptos"/>
                </a:rPr>
                <a:t>H3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1115568" y="3931920"/>
              <a:ext cx="7955279" cy="329184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9308592" y="3931920"/>
              <a:ext cx="2011680" cy="329184"/>
            </a:xfrm>
            <a:prstGeom prst="roundRect">
              <a:avLst/>
            </a:prstGeom>
            <a:solidFill>
              <a:srgbClr val="4B1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10063305" y="4014215"/>
            <a:ext cx="50225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 dirty="0">
                <a:solidFill>
                  <a:srgbClr val="FF8F37"/>
                </a:solidFill>
                <a:latin typeface="Aptos"/>
              </a:rPr>
              <a:t>ANOVA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66A8DEE-0B02-7E95-919F-F1639F701AC7}"/>
              </a:ext>
            </a:extLst>
          </p:cNvPr>
          <p:cNvGrpSpPr/>
          <p:nvPr/>
        </p:nvGrpSpPr>
        <p:grpSpPr>
          <a:xfrm>
            <a:off x="658368" y="4379976"/>
            <a:ext cx="10661904" cy="329184"/>
            <a:chOff x="658368" y="4379976"/>
            <a:chExt cx="10661904" cy="329184"/>
          </a:xfrm>
        </p:grpSpPr>
        <p:sp>
          <p:nvSpPr>
            <p:cNvPr id="46" name="Oval 45"/>
            <p:cNvSpPr/>
            <p:nvPr/>
          </p:nvSpPr>
          <p:spPr>
            <a:xfrm>
              <a:off x="658368" y="4379976"/>
              <a:ext cx="320040" cy="320040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21406" y="4471416"/>
              <a:ext cx="193964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 dirty="0">
                  <a:solidFill>
                    <a:srgbClr val="0A0A0A"/>
                  </a:solidFill>
                  <a:latin typeface="Aptos"/>
                </a:rPr>
                <a:t>H4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115568" y="4379976"/>
              <a:ext cx="7955279" cy="329184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9308592" y="4379976"/>
              <a:ext cx="2011680" cy="329184"/>
            </a:xfrm>
            <a:prstGeom prst="roundRect">
              <a:avLst/>
            </a:prstGeom>
            <a:solidFill>
              <a:srgbClr val="4B1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10088665" y="4462272"/>
            <a:ext cx="451534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 dirty="0">
                <a:solidFill>
                  <a:srgbClr val="FF8F37"/>
                </a:solidFill>
                <a:latin typeface="Aptos"/>
              </a:rPr>
              <a:t>T-TEST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FBF1782-71F1-B1B7-E27B-45770CF21784}"/>
              </a:ext>
            </a:extLst>
          </p:cNvPr>
          <p:cNvGrpSpPr/>
          <p:nvPr/>
        </p:nvGrpSpPr>
        <p:grpSpPr>
          <a:xfrm>
            <a:off x="658368" y="4828031"/>
            <a:ext cx="10661904" cy="329184"/>
            <a:chOff x="658368" y="4828031"/>
            <a:chExt cx="10661904" cy="329184"/>
          </a:xfrm>
        </p:grpSpPr>
        <p:sp>
          <p:nvSpPr>
            <p:cNvPr id="52" name="Oval 51"/>
            <p:cNvSpPr/>
            <p:nvPr/>
          </p:nvSpPr>
          <p:spPr>
            <a:xfrm>
              <a:off x="658368" y="4828031"/>
              <a:ext cx="320040" cy="320040"/>
            </a:xfrm>
            <a:prstGeom prst="ellipse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21406" y="4919471"/>
              <a:ext cx="193964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rgbClr val="FF6600"/>
                  </a:solidFill>
                  <a:latin typeface="Aptos"/>
                </a:rPr>
                <a:t>H5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1115568" y="4828031"/>
              <a:ext cx="7955279" cy="329184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9308592" y="4828031"/>
              <a:ext cx="2011680" cy="329184"/>
            </a:xfrm>
            <a:prstGeom prst="roundRect">
              <a:avLst/>
            </a:prstGeom>
            <a:solidFill>
              <a:srgbClr val="4B1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9802657" y="4910327"/>
            <a:ext cx="1023549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 dirty="0">
                <a:solidFill>
                  <a:srgbClr val="FF8F37"/>
                </a:solidFill>
                <a:latin typeface="Aptos"/>
              </a:rPr>
              <a:t>CORRELATION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6CE467F-A289-4171-5CF2-66F43E211E2D}"/>
              </a:ext>
            </a:extLst>
          </p:cNvPr>
          <p:cNvGrpSpPr/>
          <p:nvPr/>
        </p:nvGrpSpPr>
        <p:grpSpPr>
          <a:xfrm>
            <a:off x="658368" y="5276088"/>
            <a:ext cx="10661904" cy="329184"/>
            <a:chOff x="658368" y="5276088"/>
            <a:chExt cx="10661904" cy="329184"/>
          </a:xfrm>
        </p:grpSpPr>
        <p:sp>
          <p:nvSpPr>
            <p:cNvPr id="58" name="Oval 57"/>
            <p:cNvSpPr/>
            <p:nvPr/>
          </p:nvSpPr>
          <p:spPr>
            <a:xfrm>
              <a:off x="658368" y="5276088"/>
              <a:ext cx="320040" cy="320040"/>
            </a:xfrm>
            <a:prstGeom prst="ellipse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21406" y="5367527"/>
              <a:ext cx="193964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 dirty="0">
                  <a:solidFill>
                    <a:srgbClr val="FF6600"/>
                  </a:solidFill>
                  <a:latin typeface="Aptos"/>
                </a:rPr>
                <a:t>H6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1115568" y="5276088"/>
              <a:ext cx="7955279" cy="329184"/>
            </a:xfrm>
            <a:prstGeom prst="roundRect">
              <a:avLst/>
            </a:prstGeom>
            <a:solidFill>
              <a:srgbClr val="161616"/>
            </a:solidFill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9308592" y="5276088"/>
              <a:ext cx="2011680" cy="329184"/>
            </a:xfrm>
            <a:prstGeom prst="roundRect">
              <a:avLst/>
            </a:prstGeom>
            <a:solidFill>
              <a:srgbClr val="4B1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9799546" y="5343775"/>
            <a:ext cx="1066574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dirty="0">
                <a:solidFill>
                  <a:srgbClr val="FF8F37"/>
                </a:solidFill>
                <a:latin typeface="Aptos"/>
              </a:rPr>
              <a:t>A</a:t>
            </a:r>
            <a:r>
              <a:rPr lang="en-US" sz="1200" b="1" dirty="0">
                <a:solidFill>
                  <a:srgbClr val="FF8F37"/>
                </a:solidFill>
                <a:latin typeface="Aptos"/>
              </a:rPr>
              <a:t>NOVA</a:t>
            </a:r>
            <a:endParaRPr sz="1200" b="1" dirty="0">
              <a:solidFill>
                <a:srgbClr val="FF8F37"/>
              </a:solidFill>
              <a:latin typeface="Aptos"/>
            </a:endParaRPr>
          </a:p>
        </p:txBody>
      </p:sp>
      <p:sp>
        <p:nvSpPr>
          <p:cNvPr id="64" name="Trapezoid 63"/>
          <p:cNvSpPr/>
          <p:nvPr/>
        </p:nvSpPr>
        <p:spPr>
          <a:xfrm>
            <a:off x="3337560" y="5806440"/>
            <a:ext cx="5577840" cy="384048"/>
          </a:xfrm>
          <a:prstGeom prst="trapezoid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270728" y="5916168"/>
            <a:ext cx="3702359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 dirty="0">
                <a:solidFill>
                  <a:srgbClr val="0A0A0A"/>
                </a:solidFill>
                <a:latin typeface="Aptos"/>
              </a:rPr>
              <a:t>HYPOTHESIS  →  DATA  →  STATISTICAL TEST  →  RESULT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25D23D5-6AC1-9306-1952-F1013D012085}"/>
              </a:ext>
            </a:extLst>
          </p:cNvPr>
          <p:cNvSpPr txBox="1"/>
          <p:nvPr/>
        </p:nvSpPr>
        <p:spPr>
          <a:xfrm>
            <a:off x="1324982" y="3106280"/>
            <a:ext cx="391729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F6F6F6"/>
                </a:solidFill>
                <a:latin typeface="Aptos"/>
              </a:rPr>
              <a:t>Average purchase differs across City Categories A, B and C.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2DCB4C3-3B78-4E45-C6ED-DA842441FF10}"/>
              </a:ext>
            </a:extLst>
          </p:cNvPr>
          <p:cNvSpPr txBox="1"/>
          <p:nvPr/>
        </p:nvSpPr>
        <p:spPr>
          <a:xfrm>
            <a:off x="1324982" y="3546645"/>
            <a:ext cx="4566058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F6F6F6"/>
                </a:solidFill>
                <a:latin typeface="Aptos"/>
              </a:rPr>
              <a:t>Average purchase value differs between male and female customers.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224952A-BAF2-5EDE-BB0B-9E705CFE57A1}"/>
              </a:ext>
            </a:extLst>
          </p:cNvPr>
          <p:cNvSpPr txBox="1"/>
          <p:nvPr/>
        </p:nvSpPr>
        <p:spPr>
          <a:xfrm>
            <a:off x="1327226" y="4002393"/>
            <a:ext cx="3305649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F6F6F6"/>
                </a:solidFill>
                <a:latin typeface="Aptos"/>
              </a:rPr>
              <a:t>Average purchase value differs across age groups.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9DF2062-4925-40DE-EDEB-BC827F9F87FD}"/>
              </a:ext>
            </a:extLst>
          </p:cNvPr>
          <p:cNvSpPr txBox="1"/>
          <p:nvPr/>
        </p:nvSpPr>
        <p:spPr>
          <a:xfrm>
            <a:off x="1325880" y="4442197"/>
            <a:ext cx="468500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F6F6F6"/>
                </a:solidFill>
                <a:latin typeface="Aptos"/>
              </a:rPr>
              <a:t>Average purchase value differs between single and married customers.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3403C8C-72A6-AE8F-B64C-8251098FD4EB}"/>
              </a:ext>
            </a:extLst>
          </p:cNvPr>
          <p:cNvSpPr txBox="1"/>
          <p:nvPr/>
        </p:nvSpPr>
        <p:spPr>
          <a:xfrm>
            <a:off x="1327226" y="4901183"/>
            <a:ext cx="3308342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F6F6F6"/>
                </a:solidFill>
                <a:latin typeface="Aptos"/>
              </a:rPr>
              <a:t>City tenure is associated with customer spending.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BB0FC40-095C-24DC-2EEC-D52F94E2969A}"/>
              </a:ext>
            </a:extLst>
          </p:cNvPr>
          <p:cNvSpPr txBox="1"/>
          <p:nvPr/>
        </p:nvSpPr>
        <p:spPr>
          <a:xfrm>
            <a:off x="1324982" y="5328272"/>
            <a:ext cx="435414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F6F6F6"/>
                </a:solidFill>
                <a:latin typeface="Aptos"/>
              </a:rPr>
              <a:t>Occupation is associated with differences in purchasing behavior.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50"/>
                            </p:stCondLst>
                            <p:childTnLst>
                              <p:par>
                                <p:cTn id="74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6"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50"/>
                            </p:stCondLst>
                            <p:childTnLst>
                              <p:par>
                                <p:cTn id="88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0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0" dur="7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750"/>
                            </p:stCondLst>
                            <p:childTnLst>
                              <p:par>
                                <p:cTn id="102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4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4" dur="7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50"/>
                            </p:stCondLst>
                            <p:childTnLst>
                              <p:par>
                                <p:cTn id="116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8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8"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750"/>
                            </p:stCondLst>
                            <p:childTnLst>
                              <p:par>
                                <p:cTn id="130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2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2" dur="7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750"/>
                            </p:stCondLst>
                            <p:childTnLst>
                              <p:par>
                                <p:cTn id="144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6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/>
      <p:bldP spid="16" grpId="0" animBg="1"/>
      <p:bldP spid="19" grpId="0"/>
      <p:bldP spid="20" grpId="0" animBg="1"/>
      <p:bldP spid="23" grpId="0"/>
      <p:bldP spid="24" grpId="0" animBg="1"/>
      <p:bldP spid="27" grpId="0"/>
      <p:bldP spid="33" grpId="0"/>
      <p:bldP spid="39" grpId="0"/>
      <p:bldP spid="45" grpId="0"/>
      <p:bldP spid="51" grpId="0"/>
      <p:bldP spid="57" grpId="0"/>
      <p:bldP spid="63" grpId="0"/>
      <p:bldP spid="64" grpId="0" animBg="1"/>
      <p:bldP spid="71" grpId="0"/>
      <p:bldP spid="75" grpId="0"/>
      <p:bldP spid="79" grpId="0"/>
      <p:bldP spid="83" grpId="0"/>
      <p:bldP spid="86" grpId="0"/>
      <p:bldP spid="8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10561320" y="-182880"/>
            <a:ext cx="1737360" cy="502920"/>
          </a:xfrm>
          <a:prstGeom prst="parallelogram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10972800" y="164592"/>
            <a:ext cx="731520" cy="164592"/>
          </a:xfrm>
          <a:prstGeom prst="parallelogram">
            <a:avLst/>
          </a:prstGeom>
          <a:solidFill>
            <a:srgbClr val="4B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87381" y="237744"/>
            <a:ext cx="12054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 dirty="0">
                <a:solidFill>
                  <a:srgbClr val="A5A5A5"/>
                </a:solidFill>
                <a:latin typeface="Aptos"/>
              </a:rPr>
              <a:t>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512064"/>
            <a:ext cx="320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6600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85800"/>
            <a:ext cx="1024319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Aptos"/>
              </a:rPr>
              <a:t>06 /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87552"/>
            <a:ext cx="4593373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 dirty="0">
                <a:solidFill>
                  <a:srgbClr val="F6F6F6"/>
                </a:solidFill>
                <a:latin typeface="Aptos"/>
              </a:rPr>
              <a:t>Project approach &amp;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54480"/>
            <a:ext cx="719280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A5A5A5"/>
                </a:solidFill>
                <a:latin typeface="Aptos"/>
              </a:rPr>
              <a:t>A connected workflow from business understanding to the final recommendation.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890355"/>
            <a:ext cx="11109960" cy="66461"/>
          </a:xfrm>
          <a:prstGeom prst="rect">
            <a:avLst/>
          </a:prstGeom>
          <a:solidFill>
            <a:srgbClr val="34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6473952"/>
            <a:ext cx="36576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A5A5A5"/>
                </a:solidFill>
                <a:latin typeface="Aptos"/>
              </a:rPr>
              <a:t>BLACK FRIDAY  /  SALES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73952"/>
            <a:ext cx="8686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00" b="1">
                <a:solidFill>
                  <a:srgbClr val="A5A5A5"/>
                </a:solidFill>
                <a:latin typeface="Aptos"/>
              </a:rPr>
              <a:t>06 / 06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D67468-5D2F-6F8E-5F09-DAD03B85B7E0}"/>
              </a:ext>
            </a:extLst>
          </p:cNvPr>
          <p:cNvGrpSpPr/>
          <p:nvPr/>
        </p:nvGrpSpPr>
        <p:grpSpPr>
          <a:xfrm>
            <a:off x="3540632" y="2382497"/>
            <a:ext cx="621792" cy="621792"/>
            <a:chOff x="3540632" y="2382497"/>
            <a:chExt cx="621792" cy="621792"/>
          </a:xfrm>
        </p:grpSpPr>
        <p:sp>
          <p:nvSpPr>
            <p:cNvPr id="13" name="Oval 12"/>
            <p:cNvSpPr/>
            <p:nvPr/>
          </p:nvSpPr>
          <p:spPr>
            <a:xfrm>
              <a:off x="3540632" y="2382497"/>
              <a:ext cx="621792" cy="621792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776187" y="2601954"/>
              <a:ext cx="150682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 b="1" dirty="0">
                  <a:solidFill>
                    <a:srgbClr val="0A0A0A"/>
                  </a:solidFill>
                  <a:latin typeface="Aptos"/>
                </a:rPr>
                <a:t>01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53F2547-2802-3D09-D62F-84011027C725}"/>
              </a:ext>
            </a:extLst>
          </p:cNvPr>
          <p:cNvGrpSpPr/>
          <p:nvPr/>
        </p:nvGrpSpPr>
        <p:grpSpPr>
          <a:xfrm>
            <a:off x="4698780" y="2940233"/>
            <a:ext cx="621792" cy="621792"/>
            <a:chOff x="4698780" y="2940233"/>
            <a:chExt cx="621792" cy="621792"/>
          </a:xfrm>
        </p:grpSpPr>
        <p:sp>
          <p:nvSpPr>
            <p:cNvPr id="15" name="Oval 14"/>
            <p:cNvSpPr/>
            <p:nvPr/>
          </p:nvSpPr>
          <p:spPr>
            <a:xfrm>
              <a:off x="4698780" y="2940233"/>
              <a:ext cx="621792" cy="621792"/>
            </a:xfrm>
            <a:prstGeom prst="ellipse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934335" y="3159689"/>
              <a:ext cx="150682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 b="1">
                  <a:solidFill>
                    <a:srgbClr val="FF6600"/>
                  </a:solidFill>
                  <a:latin typeface="Aptos"/>
                </a:rPr>
                <a:t>02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5C7CD89-8219-AA16-B5C2-0D2131009451}"/>
              </a:ext>
            </a:extLst>
          </p:cNvPr>
          <p:cNvGrpSpPr/>
          <p:nvPr/>
        </p:nvGrpSpPr>
        <p:grpSpPr>
          <a:xfrm>
            <a:off x="4984820" y="4193452"/>
            <a:ext cx="621792" cy="621792"/>
            <a:chOff x="4984820" y="4193452"/>
            <a:chExt cx="621792" cy="621792"/>
          </a:xfrm>
        </p:grpSpPr>
        <p:sp>
          <p:nvSpPr>
            <p:cNvPr id="17" name="Oval 16"/>
            <p:cNvSpPr/>
            <p:nvPr/>
          </p:nvSpPr>
          <p:spPr>
            <a:xfrm>
              <a:off x="4984820" y="4193452"/>
              <a:ext cx="621792" cy="621792"/>
            </a:xfrm>
            <a:prstGeom prst="ellipse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220375" y="4412908"/>
              <a:ext cx="150682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 b="1">
                  <a:solidFill>
                    <a:srgbClr val="FF6600"/>
                  </a:solidFill>
                  <a:latin typeface="Aptos"/>
                </a:rPr>
                <a:t>03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ECE4609-2ABD-B74B-51E1-1D9D037EB103}"/>
              </a:ext>
            </a:extLst>
          </p:cNvPr>
          <p:cNvGrpSpPr/>
          <p:nvPr/>
        </p:nvGrpSpPr>
        <p:grpSpPr>
          <a:xfrm>
            <a:off x="4183356" y="5198456"/>
            <a:ext cx="621792" cy="621792"/>
            <a:chOff x="4183356" y="5198456"/>
            <a:chExt cx="621792" cy="621792"/>
          </a:xfrm>
        </p:grpSpPr>
        <p:sp>
          <p:nvSpPr>
            <p:cNvPr id="19" name="Oval 18"/>
            <p:cNvSpPr/>
            <p:nvPr/>
          </p:nvSpPr>
          <p:spPr>
            <a:xfrm>
              <a:off x="4183356" y="5198456"/>
              <a:ext cx="621792" cy="621792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418911" y="5417912"/>
              <a:ext cx="150682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 b="1">
                  <a:solidFill>
                    <a:srgbClr val="0A0A0A"/>
                  </a:solidFill>
                  <a:latin typeface="Aptos"/>
                </a:rPr>
                <a:t>04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13A1CF2-BD48-2CB1-BD5A-8DDCA9F04297}"/>
              </a:ext>
            </a:extLst>
          </p:cNvPr>
          <p:cNvGrpSpPr/>
          <p:nvPr/>
        </p:nvGrpSpPr>
        <p:grpSpPr>
          <a:xfrm>
            <a:off x="2897907" y="5198456"/>
            <a:ext cx="621792" cy="621792"/>
            <a:chOff x="2897907" y="5198456"/>
            <a:chExt cx="621792" cy="621792"/>
          </a:xfrm>
        </p:grpSpPr>
        <p:sp>
          <p:nvSpPr>
            <p:cNvPr id="21" name="Oval 20"/>
            <p:cNvSpPr/>
            <p:nvPr/>
          </p:nvSpPr>
          <p:spPr>
            <a:xfrm>
              <a:off x="2897907" y="5198456"/>
              <a:ext cx="621792" cy="621792"/>
            </a:xfrm>
            <a:prstGeom prst="ellipse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133462" y="5417912"/>
              <a:ext cx="150682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 b="1">
                  <a:solidFill>
                    <a:srgbClr val="FF6600"/>
                  </a:solidFill>
                  <a:latin typeface="Aptos"/>
                </a:rPr>
                <a:t>05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B92CBCA-DEC2-7849-2221-488E51775A84}"/>
              </a:ext>
            </a:extLst>
          </p:cNvPr>
          <p:cNvGrpSpPr/>
          <p:nvPr/>
        </p:nvGrpSpPr>
        <p:grpSpPr>
          <a:xfrm>
            <a:off x="2096443" y="4193452"/>
            <a:ext cx="621792" cy="621792"/>
            <a:chOff x="2096443" y="4193452"/>
            <a:chExt cx="621792" cy="621792"/>
          </a:xfrm>
        </p:grpSpPr>
        <p:sp>
          <p:nvSpPr>
            <p:cNvPr id="23" name="Oval 22"/>
            <p:cNvSpPr/>
            <p:nvPr/>
          </p:nvSpPr>
          <p:spPr>
            <a:xfrm>
              <a:off x="2096443" y="4193452"/>
              <a:ext cx="621792" cy="621792"/>
            </a:xfrm>
            <a:prstGeom prst="ellipse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331998" y="4412908"/>
              <a:ext cx="150682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 b="1">
                  <a:solidFill>
                    <a:srgbClr val="FF6600"/>
                  </a:solidFill>
                  <a:latin typeface="Aptos"/>
                </a:rPr>
                <a:t>06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A1978AB-110B-9294-02D5-B266BCB91412}"/>
              </a:ext>
            </a:extLst>
          </p:cNvPr>
          <p:cNvGrpSpPr/>
          <p:nvPr/>
        </p:nvGrpSpPr>
        <p:grpSpPr>
          <a:xfrm>
            <a:off x="2382483" y="2940233"/>
            <a:ext cx="621792" cy="621792"/>
            <a:chOff x="2382483" y="2940233"/>
            <a:chExt cx="621792" cy="621792"/>
          </a:xfrm>
        </p:grpSpPr>
        <p:sp>
          <p:nvSpPr>
            <p:cNvPr id="25" name="Oval 24"/>
            <p:cNvSpPr/>
            <p:nvPr/>
          </p:nvSpPr>
          <p:spPr>
            <a:xfrm>
              <a:off x="2382483" y="2940233"/>
              <a:ext cx="621792" cy="621792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618038" y="3159689"/>
              <a:ext cx="150682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 b="1">
                  <a:solidFill>
                    <a:srgbClr val="0A0A0A"/>
                  </a:solidFill>
                  <a:latin typeface="Aptos"/>
                </a:rPr>
                <a:t>07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4DA1BEB-6B70-8A8A-ECE2-CAD50FE4DC0C}"/>
              </a:ext>
            </a:extLst>
          </p:cNvPr>
          <p:cNvGrpSpPr/>
          <p:nvPr/>
        </p:nvGrpSpPr>
        <p:grpSpPr>
          <a:xfrm>
            <a:off x="3138295" y="3461489"/>
            <a:ext cx="1426464" cy="1426464"/>
            <a:chOff x="3138295" y="3461489"/>
            <a:chExt cx="1426464" cy="1426464"/>
          </a:xfrm>
        </p:grpSpPr>
        <p:sp>
          <p:nvSpPr>
            <p:cNvPr id="27" name="Oval 26"/>
            <p:cNvSpPr/>
            <p:nvPr/>
          </p:nvSpPr>
          <p:spPr>
            <a:xfrm>
              <a:off x="3138295" y="3461489"/>
              <a:ext cx="1426464" cy="1426464"/>
            </a:xfrm>
            <a:prstGeom prst="ellipse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Oval 27"/>
            <p:cNvSpPr/>
            <p:nvPr/>
          </p:nvSpPr>
          <p:spPr>
            <a:xfrm>
              <a:off x="3412615" y="3735810"/>
              <a:ext cx="877824" cy="877824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534870" y="4064993"/>
              <a:ext cx="633314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 dirty="0">
                  <a:solidFill>
                    <a:srgbClr val="F6F6F6"/>
                  </a:solidFill>
                  <a:latin typeface="Aptos"/>
                </a:rPr>
                <a:t>ANALYZE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C7133BF-4731-B12D-0C86-27BF0166BA09}"/>
              </a:ext>
            </a:extLst>
          </p:cNvPr>
          <p:cNvGrpSpPr/>
          <p:nvPr/>
        </p:nvGrpSpPr>
        <p:grpSpPr>
          <a:xfrm>
            <a:off x="3516441" y="1988918"/>
            <a:ext cx="719748" cy="397382"/>
            <a:chOff x="3516441" y="1988918"/>
            <a:chExt cx="719748" cy="397382"/>
          </a:xfrm>
        </p:grpSpPr>
        <p:sp>
          <p:nvSpPr>
            <p:cNvPr id="31" name="TextBox 30"/>
            <p:cNvSpPr txBox="1"/>
            <p:nvPr/>
          </p:nvSpPr>
          <p:spPr>
            <a:xfrm>
              <a:off x="3516441" y="1988918"/>
              <a:ext cx="719748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 dirty="0">
                  <a:solidFill>
                    <a:srgbClr val="F6F6F6"/>
                  </a:solidFill>
                  <a:latin typeface="Aptos"/>
                </a:rPr>
                <a:t>BUSINESS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533272" y="2224717"/>
              <a:ext cx="686085" cy="16158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050" b="0" dirty="0">
                  <a:solidFill>
                    <a:srgbClr val="A5A5A5"/>
                  </a:solidFill>
                  <a:latin typeface="Aptos"/>
                </a:rPr>
                <a:t>Understand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8B9819B-467A-07A1-E668-020CAA2C1FB2}"/>
              </a:ext>
            </a:extLst>
          </p:cNvPr>
          <p:cNvGrpSpPr/>
          <p:nvPr/>
        </p:nvGrpSpPr>
        <p:grpSpPr>
          <a:xfrm>
            <a:off x="5342693" y="2601060"/>
            <a:ext cx="479298" cy="377594"/>
            <a:chOff x="5342693" y="2601060"/>
            <a:chExt cx="479298" cy="377594"/>
          </a:xfrm>
        </p:grpSpPr>
        <p:sp>
          <p:nvSpPr>
            <p:cNvPr id="33" name="TextBox 32"/>
            <p:cNvSpPr txBox="1"/>
            <p:nvPr/>
          </p:nvSpPr>
          <p:spPr>
            <a:xfrm>
              <a:off x="5401363" y="2601060"/>
              <a:ext cx="361958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 dirty="0">
                  <a:solidFill>
                    <a:srgbClr val="F6F6F6"/>
                  </a:solidFill>
                  <a:latin typeface="Aptos"/>
                </a:rPr>
                <a:t>DATA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342693" y="2817071"/>
              <a:ext cx="479298" cy="16158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050" b="0" dirty="0">
                  <a:solidFill>
                    <a:srgbClr val="A5A5A5"/>
                  </a:solidFill>
                  <a:latin typeface="Aptos"/>
                </a:rPr>
                <a:t>Validate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ED92FF7-CCD7-B997-6A77-03DFFDACA1F1}"/>
              </a:ext>
            </a:extLst>
          </p:cNvPr>
          <p:cNvGrpSpPr/>
          <p:nvPr/>
        </p:nvGrpSpPr>
        <p:grpSpPr>
          <a:xfrm>
            <a:off x="5671389" y="4277468"/>
            <a:ext cx="545021" cy="382323"/>
            <a:chOff x="5671389" y="4277468"/>
            <a:chExt cx="545021" cy="382323"/>
          </a:xfrm>
        </p:grpSpPr>
        <p:sp>
          <p:nvSpPr>
            <p:cNvPr id="35" name="TextBox 34"/>
            <p:cNvSpPr txBox="1"/>
            <p:nvPr/>
          </p:nvSpPr>
          <p:spPr>
            <a:xfrm>
              <a:off x="5823230" y="4277468"/>
              <a:ext cx="283731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 dirty="0">
                  <a:solidFill>
                    <a:srgbClr val="F6F6F6"/>
                  </a:solidFill>
                  <a:latin typeface="Aptos"/>
                </a:rPr>
                <a:t>SQL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671389" y="4498208"/>
              <a:ext cx="545021" cy="16158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050" b="0" dirty="0">
                  <a:solidFill>
                    <a:srgbClr val="A5A5A5"/>
                  </a:solidFill>
                  <a:latin typeface="Aptos"/>
                </a:rPr>
                <a:t>Structure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20A4729-7678-9485-FF3C-55F10C770D2D}"/>
              </a:ext>
            </a:extLst>
          </p:cNvPr>
          <p:cNvGrpSpPr/>
          <p:nvPr/>
        </p:nvGrpSpPr>
        <p:grpSpPr>
          <a:xfrm>
            <a:off x="4468244" y="5883529"/>
            <a:ext cx="594329" cy="403888"/>
            <a:chOff x="4468244" y="5883529"/>
            <a:chExt cx="594329" cy="403888"/>
          </a:xfrm>
        </p:grpSpPr>
        <p:sp>
          <p:nvSpPr>
            <p:cNvPr id="37" name="TextBox 36"/>
            <p:cNvSpPr txBox="1"/>
            <p:nvPr/>
          </p:nvSpPr>
          <p:spPr>
            <a:xfrm>
              <a:off x="4468244" y="6102751"/>
              <a:ext cx="594329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 dirty="0">
                  <a:solidFill>
                    <a:srgbClr val="F6F6F6"/>
                  </a:solidFill>
                  <a:latin typeface="Aptos"/>
                </a:rPr>
                <a:t>PYTHON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540417" y="5883529"/>
              <a:ext cx="452047" cy="1615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50" b="0" dirty="0">
                  <a:solidFill>
                    <a:srgbClr val="A5A5A5"/>
                  </a:solidFill>
                  <a:latin typeface="Aptos"/>
                </a:rPr>
                <a:t>Analyze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60FDB92-4F0B-572C-92DD-B2B3347CB202}"/>
              </a:ext>
            </a:extLst>
          </p:cNvPr>
          <p:cNvGrpSpPr/>
          <p:nvPr/>
        </p:nvGrpSpPr>
        <p:grpSpPr>
          <a:xfrm>
            <a:off x="2529873" y="5821513"/>
            <a:ext cx="594329" cy="417920"/>
            <a:chOff x="2529873" y="5821513"/>
            <a:chExt cx="594329" cy="417920"/>
          </a:xfrm>
        </p:grpSpPr>
        <p:sp>
          <p:nvSpPr>
            <p:cNvPr id="39" name="TextBox 38"/>
            <p:cNvSpPr txBox="1"/>
            <p:nvPr/>
          </p:nvSpPr>
          <p:spPr>
            <a:xfrm>
              <a:off x="2529873" y="6054767"/>
              <a:ext cx="594329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rgbClr val="F6F6F6"/>
                  </a:solidFill>
                  <a:latin typeface="Aptos"/>
                </a:rPr>
                <a:t>STATS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718235" y="5821513"/>
              <a:ext cx="243656" cy="16158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050" b="0" dirty="0">
                  <a:solidFill>
                    <a:srgbClr val="A5A5A5"/>
                  </a:solidFill>
                  <a:latin typeface="Aptos"/>
                </a:rPr>
                <a:t>Test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8E20C5C-691F-FE8C-86C0-DAE453FE73EC}"/>
              </a:ext>
            </a:extLst>
          </p:cNvPr>
          <p:cNvGrpSpPr/>
          <p:nvPr/>
        </p:nvGrpSpPr>
        <p:grpSpPr>
          <a:xfrm>
            <a:off x="1452408" y="4224162"/>
            <a:ext cx="520975" cy="381096"/>
            <a:chOff x="1452408" y="4224162"/>
            <a:chExt cx="520975" cy="381096"/>
          </a:xfrm>
        </p:grpSpPr>
        <p:sp>
          <p:nvSpPr>
            <p:cNvPr id="41" name="TextBox 40"/>
            <p:cNvSpPr txBox="1"/>
            <p:nvPr/>
          </p:nvSpPr>
          <p:spPr>
            <a:xfrm>
              <a:off x="1630752" y="4224162"/>
              <a:ext cx="139462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rgbClr val="F6F6F6"/>
                  </a:solidFill>
                  <a:latin typeface="Aptos"/>
                </a:rPr>
                <a:t>BI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452408" y="4443675"/>
              <a:ext cx="520975" cy="16158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050" b="0" dirty="0">
                  <a:solidFill>
                    <a:srgbClr val="A5A5A5"/>
                  </a:solidFill>
                  <a:latin typeface="Aptos"/>
                </a:rPr>
                <a:t>Visualize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B237C41-91F0-CD97-6B7E-6BD158E53802}"/>
              </a:ext>
            </a:extLst>
          </p:cNvPr>
          <p:cNvGrpSpPr/>
          <p:nvPr/>
        </p:nvGrpSpPr>
        <p:grpSpPr>
          <a:xfrm>
            <a:off x="1599883" y="2605922"/>
            <a:ext cx="746999" cy="355984"/>
            <a:chOff x="1599883" y="2605922"/>
            <a:chExt cx="746999" cy="355984"/>
          </a:xfrm>
        </p:grpSpPr>
        <p:sp>
          <p:nvSpPr>
            <p:cNvPr id="43" name="TextBox 42"/>
            <p:cNvSpPr txBox="1"/>
            <p:nvPr/>
          </p:nvSpPr>
          <p:spPr>
            <a:xfrm>
              <a:off x="1631846" y="2605922"/>
              <a:ext cx="683071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200" b="1" dirty="0">
                  <a:solidFill>
                    <a:srgbClr val="F6F6F6"/>
                  </a:solidFill>
                  <a:latin typeface="Aptos"/>
                </a:rPr>
                <a:t>INSIGHTS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599883" y="2800323"/>
              <a:ext cx="746999" cy="16158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050" b="0" dirty="0">
                  <a:solidFill>
                    <a:srgbClr val="A5A5A5"/>
                  </a:solidFill>
                  <a:latin typeface="Aptos"/>
                </a:rPr>
                <a:t>Recommend</a:t>
              </a:r>
            </a:p>
          </p:txBody>
        </p:sp>
      </p:grpSp>
      <p:sp>
        <p:nvSpPr>
          <p:cNvPr id="45" name="Rounded Rectangle 44"/>
          <p:cNvSpPr/>
          <p:nvPr/>
        </p:nvSpPr>
        <p:spPr>
          <a:xfrm>
            <a:off x="7452360" y="2331720"/>
            <a:ext cx="4069080" cy="3200400"/>
          </a:xfrm>
          <a:prstGeom prst="roundRect">
            <a:avLst>
              <a:gd name="adj" fmla="val 10667"/>
            </a:avLst>
          </a:prstGeom>
          <a:solidFill>
            <a:srgbClr val="161616"/>
          </a:solidFill>
          <a:ln w="12700">
            <a:solidFill>
              <a:srgbClr val="34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54112" y="2615184"/>
            <a:ext cx="1177566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FF6600"/>
                </a:solidFill>
                <a:latin typeface="Aptos"/>
              </a:rPr>
              <a:t>DELIVERY STACK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26679" y="2999232"/>
            <a:ext cx="1444752" cy="310896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49154" y="3090672"/>
            <a:ext cx="38151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 dirty="0">
                <a:solidFill>
                  <a:srgbClr val="FF6600"/>
                </a:solidFill>
                <a:latin typeface="Aptos"/>
              </a:rPr>
              <a:t>EXCEL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00032" y="3081527"/>
            <a:ext cx="1615827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A5A5A5"/>
                </a:solidFill>
                <a:latin typeface="Aptos"/>
              </a:rPr>
              <a:t>Data validation &amp; quality log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26679" y="3502152"/>
            <a:ext cx="1444752" cy="310896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21290" y="3593592"/>
            <a:ext cx="23724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 dirty="0">
                <a:solidFill>
                  <a:srgbClr val="FF6600"/>
                </a:solidFill>
                <a:latin typeface="Aptos"/>
              </a:rPr>
              <a:t>SQL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00032" y="3584448"/>
            <a:ext cx="1516441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A5A5A5"/>
                </a:solidFill>
                <a:latin typeface="Aptos"/>
              </a:rPr>
              <a:t>Storage, loading &amp; queries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26679" y="4005072"/>
            <a:ext cx="1444752" cy="310896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91446" y="4096511"/>
            <a:ext cx="49693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 dirty="0">
                <a:solidFill>
                  <a:srgbClr val="FF6600"/>
                </a:solidFill>
                <a:latin typeface="Aptos"/>
              </a:rPr>
              <a:t>PYTHON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00032" y="4087368"/>
            <a:ext cx="150522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A5A5A5"/>
                </a:solidFill>
                <a:latin typeface="Aptos"/>
              </a:rPr>
              <a:t>Cleaning, EDA &amp; statistics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26679" y="4507992"/>
            <a:ext cx="1965960" cy="310896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082795" y="4599431"/>
            <a:ext cx="1226297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 dirty="0">
                <a:solidFill>
                  <a:srgbClr val="0A0A0A"/>
                </a:solidFill>
                <a:latin typeface="Aptos"/>
              </a:rPr>
              <a:t>POWER BI / TABLEAU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02368" y="4590288"/>
            <a:ext cx="1338508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A5A5A5"/>
                </a:solidFill>
                <a:latin typeface="Aptos"/>
              </a:rPr>
              <a:t>Interactive dashboards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26679" y="5010912"/>
            <a:ext cx="1444752" cy="310896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30908" y="5102352"/>
            <a:ext cx="21800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 dirty="0">
                <a:solidFill>
                  <a:srgbClr val="FF6600"/>
                </a:solidFill>
                <a:latin typeface="Aptos"/>
              </a:rPr>
              <a:t>PPT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00032" y="5093208"/>
            <a:ext cx="599523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A5A5A5"/>
                </a:solidFill>
                <a:latin typeface="Aptos"/>
              </a:rPr>
              <a:t>Final story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7452360" y="5760720"/>
            <a:ext cx="4069080" cy="420624"/>
          </a:xfrm>
          <a:prstGeom prst="rightArrow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980313" y="5897880"/>
            <a:ext cx="3004027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  <a:latin typeface="Aptos"/>
              </a:rPr>
              <a:t>ANALYZE  →  VISUALIZE  →  RECOMMEND  →  DELIVER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3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"/>
                            </p:stCondLst>
                            <p:childTnLst>
                              <p:par>
                                <p:cTn id="9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7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7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750"/>
                            </p:stCondLst>
                            <p:childTnLst>
                              <p:par>
                                <p:cTn id="10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1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1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750"/>
                            </p:stCondLst>
                            <p:childTnLst>
                              <p:par>
                                <p:cTn id="12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5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5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750"/>
                            </p:stCondLst>
                            <p:childTnLst>
                              <p:par>
                                <p:cTn id="137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9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9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750"/>
                            </p:stCondLst>
                            <p:childTnLst>
                              <p:par>
                                <p:cTn id="15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3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5" grpId="0" animBg="1"/>
      <p:bldP spid="46" grpId="0"/>
      <p:bldP spid="47" grpId="0" animBg="1"/>
      <p:bldP spid="48" grpId="0"/>
      <p:bldP spid="49" grpId="0"/>
      <p:bldP spid="50" grpId="0" animBg="1"/>
      <p:bldP spid="51" grpId="0"/>
      <p:bldP spid="52" grpId="0"/>
      <p:bldP spid="53" grpId="0" animBg="1"/>
      <p:bldP spid="54" grpId="0"/>
      <p:bldP spid="55" grpId="0"/>
      <p:bldP spid="56" grpId="0" animBg="1"/>
      <p:bldP spid="57" grpId="0"/>
      <p:bldP spid="58" grpId="0"/>
      <p:bldP spid="59" grpId="0" animBg="1"/>
      <p:bldP spid="60" grpId="0"/>
      <p:bldP spid="61" grpId="0"/>
      <p:bldP spid="6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90C2601F-83DB-D9B6-21FC-218D67C604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883809E9-9015-3B18-155F-86D96D9D6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3F0EE2A1-EC7E-B8B7-4CDA-683702BF72AB}"/>
              </a:ext>
            </a:extLst>
          </p:cNvPr>
          <p:cNvSpPr txBox="1"/>
          <p:nvPr/>
        </p:nvSpPr>
        <p:spPr>
          <a:xfrm>
            <a:off x="344233" y="228600"/>
            <a:ext cx="4645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6F00"/>
                </a:solidFill>
                <a:latin typeface="Bauhaus 93" panose="04030905020B02020C02" pitchFamily="82" charset="0"/>
              </a:rPr>
              <a:t>Executive Summary</a:t>
            </a:r>
            <a:endParaRPr lang="en-IN" sz="4000" dirty="0">
              <a:solidFill>
                <a:srgbClr val="FF6F00"/>
              </a:solidFill>
              <a:latin typeface="Bauhaus 93" panose="04030905020B02020C02" pitchFamily="82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816F2D8-DBB3-A41F-B811-80A1A4A91780}"/>
              </a:ext>
            </a:extLst>
          </p:cNvPr>
          <p:cNvSpPr/>
          <p:nvPr/>
        </p:nvSpPr>
        <p:spPr>
          <a:xfrm>
            <a:off x="800100" y="1028700"/>
            <a:ext cx="5295900" cy="45719"/>
          </a:xfrm>
          <a:prstGeom prst="rect">
            <a:avLst/>
          </a:prstGeom>
          <a:gradFill>
            <a:gsLst>
              <a:gs pos="64000">
                <a:srgbClr val="FF6F00"/>
              </a:gs>
              <a:gs pos="19000">
                <a:schemeClr val="accent1">
                  <a:lumMod val="40000"/>
                  <a:lumOff val="6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81190F2-E9B4-A365-EC73-76DF9E804A05}"/>
              </a:ext>
            </a:extLst>
          </p:cNvPr>
          <p:cNvGrpSpPr/>
          <p:nvPr/>
        </p:nvGrpSpPr>
        <p:grpSpPr>
          <a:xfrm>
            <a:off x="590550" y="2058530"/>
            <a:ext cx="3105150" cy="1927892"/>
            <a:chOff x="590550" y="2058530"/>
            <a:chExt cx="3105150" cy="1927892"/>
          </a:xfrm>
        </p:grpSpPr>
        <p:sp>
          <p:nvSpPr>
            <p:cNvPr id="80" name="Rectangle: Diagonal Corners Rounded 79">
              <a:extLst>
                <a:ext uri="{FF2B5EF4-FFF2-40B4-BE49-F238E27FC236}">
                  <a16:creationId xmlns:a16="http://schemas.microsoft.com/office/drawing/2014/main" id="{0C977B45-DD3C-4F0D-A783-C56529FB4B96}"/>
                </a:ext>
              </a:extLst>
            </p:cNvPr>
            <p:cNvSpPr/>
            <p:nvPr/>
          </p:nvSpPr>
          <p:spPr>
            <a:xfrm>
              <a:off x="590550" y="2069991"/>
              <a:ext cx="3105150" cy="1916431"/>
            </a:xfrm>
            <a:prstGeom prst="round2DiagRect">
              <a:avLst/>
            </a:prstGeom>
            <a:solidFill>
              <a:srgbClr val="0F0F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solidFill>
                    <a:schemeClr val="bg1"/>
                  </a:solidFill>
                  <a:latin typeface="Bauhaus 93" panose="04030905020B02020C02" pitchFamily="82" charset="0"/>
                </a:rPr>
                <a:t>5 bn</a:t>
              </a:r>
              <a:endParaRPr lang="en-IN" sz="6000" dirty="0">
                <a:solidFill>
                  <a:schemeClr val="bg1"/>
                </a:solidFill>
                <a:latin typeface="Bauhaus 93" panose="04030905020B02020C02" pitchFamily="82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55E3045-C917-2B2A-4D3B-A694556B8C6A}"/>
                </a:ext>
              </a:extLst>
            </p:cNvPr>
            <p:cNvSpPr txBox="1"/>
            <p:nvPr/>
          </p:nvSpPr>
          <p:spPr>
            <a:xfrm>
              <a:off x="1462087" y="2058530"/>
              <a:ext cx="19192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Gadugi" panose="020B0502040204020203" pitchFamily="34" charset="0"/>
                  <a:ea typeface="Gadugi" panose="020B0502040204020203" pitchFamily="34" charset="0"/>
                </a:rPr>
                <a:t>Total Sales</a:t>
              </a:r>
              <a:endParaRPr lang="en-IN" sz="20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endParaRPr>
            </a:p>
          </p:txBody>
        </p:sp>
        <p:sp>
          <p:nvSpPr>
            <p:cNvPr id="84" name="Rectangle: Single Corner Snipped 83">
              <a:extLst>
                <a:ext uri="{FF2B5EF4-FFF2-40B4-BE49-F238E27FC236}">
                  <a16:creationId xmlns:a16="http://schemas.microsoft.com/office/drawing/2014/main" id="{D2F8A638-5915-3F4A-0BB3-D6679DFEDB50}"/>
                </a:ext>
              </a:extLst>
            </p:cNvPr>
            <p:cNvSpPr/>
            <p:nvPr/>
          </p:nvSpPr>
          <p:spPr>
            <a:xfrm>
              <a:off x="800100" y="3571101"/>
              <a:ext cx="2695575" cy="257175"/>
            </a:xfrm>
            <a:prstGeom prst="snip1Rect">
              <a:avLst>
                <a:gd name="adj" fmla="val 50000"/>
              </a:avLst>
            </a:prstGeom>
            <a:solidFill>
              <a:srgbClr val="FF6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6" name="Rectangle: Diagonal Corners Rounded 85">
            <a:extLst>
              <a:ext uri="{FF2B5EF4-FFF2-40B4-BE49-F238E27FC236}">
                <a16:creationId xmlns:a16="http://schemas.microsoft.com/office/drawing/2014/main" id="{441CE999-7261-162E-D667-887E23D0B8FE}"/>
              </a:ext>
            </a:extLst>
          </p:cNvPr>
          <p:cNvSpPr/>
          <p:nvPr/>
        </p:nvSpPr>
        <p:spPr>
          <a:xfrm>
            <a:off x="4543425" y="2069991"/>
            <a:ext cx="3105150" cy="1916431"/>
          </a:xfrm>
          <a:prstGeom prst="round2DiagRect">
            <a:avLst/>
          </a:prstGeom>
          <a:solidFill>
            <a:srgbClr val="0F0F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Bauhaus 93" panose="04030905020B02020C02" pitchFamily="82" charset="0"/>
              </a:rPr>
              <a:t>9.26k</a:t>
            </a:r>
            <a:endParaRPr lang="en-IN" sz="6000" dirty="0">
              <a:solidFill>
                <a:schemeClr val="bg1"/>
              </a:solidFill>
              <a:latin typeface="Bauhaus 93" panose="04030905020B02020C02" pitchFamily="82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33BF010-42C4-7A6B-7B74-FFC8148D8255}"/>
              </a:ext>
            </a:extLst>
          </p:cNvPr>
          <p:cNvSpPr txBox="1"/>
          <p:nvPr/>
        </p:nvSpPr>
        <p:spPr>
          <a:xfrm>
            <a:off x="5300662" y="2069991"/>
            <a:ext cx="1919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Avg Purchase</a:t>
            </a:r>
            <a:endParaRPr lang="en-IN" sz="2000" dirty="0">
              <a:solidFill>
                <a:schemeClr val="bg1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90" name="Rectangle: Single Corner Snipped 89">
            <a:extLst>
              <a:ext uri="{FF2B5EF4-FFF2-40B4-BE49-F238E27FC236}">
                <a16:creationId xmlns:a16="http://schemas.microsoft.com/office/drawing/2014/main" id="{CAA3EBFC-0FF3-3757-CE64-4993794140D9}"/>
              </a:ext>
            </a:extLst>
          </p:cNvPr>
          <p:cNvSpPr/>
          <p:nvPr/>
        </p:nvSpPr>
        <p:spPr>
          <a:xfrm>
            <a:off x="4814887" y="3571012"/>
            <a:ext cx="2695575" cy="257175"/>
          </a:xfrm>
          <a:prstGeom prst="snip1Rect">
            <a:avLst>
              <a:gd name="adj" fmla="val 50000"/>
            </a:avLst>
          </a:prstGeom>
          <a:solidFill>
            <a:srgbClr val="FF6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09C5589-36A3-B9BD-3345-BC105D64100D}"/>
              </a:ext>
            </a:extLst>
          </p:cNvPr>
          <p:cNvGrpSpPr/>
          <p:nvPr/>
        </p:nvGrpSpPr>
        <p:grpSpPr>
          <a:xfrm>
            <a:off x="8405812" y="2058530"/>
            <a:ext cx="3106770" cy="1769656"/>
            <a:chOff x="8405812" y="2058530"/>
            <a:chExt cx="3106770" cy="1769656"/>
          </a:xfrm>
        </p:grpSpPr>
        <p:sp>
          <p:nvSpPr>
            <p:cNvPr id="92" name="Rectangle: Diagonal Corners Rounded 91">
              <a:extLst>
                <a:ext uri="{FF2B5EF4-FFF2-40B4-BE49-F238E27FC236}">
                  <a16:creationId xmlns:a16="http://schemas.microsoft.com/office/drawing/2014/main" id="{040064B0-DCA9-7AAC-930F-D00A4B7325B5}"/>
                </a:ext>
              </a:extLst>
            </p:cNvPr>
            <p:cNvSpPr/>
            <p:nvPr/>
          </p:nvSpPr>
          <p:spPr>
            <a:xfrm>
              <a:off x="8405812" y="2069991"/>
              <a:ext cx="3105150" cy="1758195"/>
            </a:xfrm>
            <a:prstGeom prst="round2DiagRect">
              <a:avLst/>
            </a:prstGeom>
            <a:solidFill>
              <a:srgbClr val="0F0F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solidFill>
                    <a:schemeClr val="bg1"/>
                  </a:solidFill>
                  <a:latin typeface="Bauhaus 93" panose="04030905020B02020C02" pitchFamily="82" charset="0"/>
                </a:rPr>
                <a:t>B-41.5%</a:t>
              </a:r>
              <a:endParaRPr lang="en-IN" sz="5400" dirty="0">
                <a:solidFill>
                  <a:schemeClr val="bg1"/>
                </a:solidFill>
                <a:latin typeface="Bauhaus 93" panose="04030905020B02020C02" pitchFamily="82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8AAE1F2-C121-C250-32E2-98FEE2CCBB34}"/>
                </a:ext>
              </a:extLst>
            </p:cNvPr>
            <p:cNvSpPr txBox="1"/>
            <p:nvPr/>
          </p:nvSpPr>
          <p:spPr>
            <a:xfrm>
              <a:off x="8636032" y="2058530"/>
              <a:ext cx="28765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Gadugi" panose="020B0502040204020203" pitchFamily="34" charset="0"/>
                  <a:ea typeface="Gadugi" panose="020B0502040204020203" pitchFamily="34" charset="0"/>
                </a:rPr>
                <a:t>Top City Contribution</a:t>
              </a:r>
              <a:endParaRPr lang="en-IN" sz="20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endParaRPr>
            </a:p>
          </p:txBody>
        </p:sp>
        <p:sp>
          <p:nvSpPr>
            <p:cNvPr id="96" name="Rectangle: Single Corner Snipped 95">
              <a:extLst>
                <a:ext uri="{FF2B5EF4-FFF2-40B4-BE49-F238E27FC236}">
                  <a16:creationId xmlns:a16="http://schemas.microsoft.com/office/drawing/2014/main" id="{0E0B22C7-4704-C817-C59A-BA7579894D79}"/>
                </a:ext>
              </a:extLst>
            </p:cNvPr>
            <p:cNvSpPr/>
            <p:nvPr/>
          </p:nvSpPr>
          <p:spPr>
            <a:xfrm>
              <a:off x="8610599" y="3571011"/>
              <a:ext cx="2695575" cy="257175"/>
            </a:xfrm>
            <a:prstGeom prst="snip1Rect">
              <a:avLst>
                <a:gd name="adj" fmla="val 50000"/>
              </a:avLst>
            </a:prstGeom>
            <a:solidFill>
              <a:srgbClr val="FF6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BFFF636-8220-9535-23BC-357FD4DBB88B}"/>
              </a:ext>
            </a:extLst>
          </p:cNvPr>
          <p:cNvGrpSpPr/>
          <p:nvPr/>
        </p:nvGrpSpPr>
        <p:grpSpPr>
          <a:xfrm>
            <a:off x="590550" y="4727690"/>
            <a:ext cx="3105150" cy="1647825"/>
            <a:chOff x="590550" y="4727690"/>
            <a:chExt cx="3105150" cy="1647825"/>
          </a:xfrm>
        </p:grpSpPr>
        <p:sp>
          <p:nvSpPr>
            <p:cNvPr id="98" name="Rectangle: Diagonal Corners Rounded 97">
              <a:extLst>
                <a:ext uri="{FF2B5EF4-FFF2-40B4-BE49-F238E27FC236}">
                  <a16:creationId xmlns:a16="http://schemas.microsoft.com/office/drawing/2014/main" id="{D13F668F-7D4A-1884-0251-19F93312BC84}"/>
                </a:ext>
              </a:extLst>
            </p:cNvPr>
            <p:cNvSpPr/>
            <p:nvPr/>
          </p:nvSpPr>
          <p:spPr>
            <a:xfrm>
              <a:off x="590550" y="4727690"/>
              <a:ext cx="3105150" cy="1647825"/>
            </a:xfrm>
            <a:prstGeom prst="round2DiagRect">
              <a:avLst/>
            </a:prstGeom>
            <a:solidFill>
              <a:srgbClr val="0F0F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1"/>
                  </a:solidFill>
                  <a:latin typeface="Bauhaus 93" panose="04030905020B02020C02" pitchFamily="82" charset="0"/>
                </a:rPr>
                <a:t>  93.4</a:t>
              </a:r>
              <a:endParaRPr lang="en-IN" sz="3600" dirty="0">
                <a:solidFill>
                  <a:schemeClr val="bg1"/>
                </a:solidFill>
                <a:latin typeface="Bauhaus 93" panose="04030905020B02020C02" pitchFamily="82" charset="0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4E3EBD5-E886-E79A-2504-0B42B06A672E}"/>
                </a:ext>
              </a:extLst>
            </p:cNvPr>
            <p:cNvSpPr txBox="1"/>
            <p:nvPr/>
          </p:nvSpPr>
          <p:spPr>
            <a:xfrm>
              <a:off x="992957" y="4729551"/>
              <a:ext cx="25812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Gadugi" panose="020B0502040204020203" pitchFamily="34" charset="0"/>
                  <a:ea typeface="Gadugi" panose="020B0502040204020203" pitchFamily="34" charset="0"/>
                </a:rPr>
                <a:t>Purchase Frequency</a:t>
              </a:r>
              <a:endParaRPr lang="en-IN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endParaRPr>
            </a:p>
          </p:txBody>
        </p:sp>
        <p:pic>
          <p:nvPicPr>
            <p:cNvPr id="106" name="Graphic 105" descr="Dollar with solid fill">
              <a:extLst>
                <a:ext uri="{FF2B5EF4-FFF2-40B4-BE49-F238E27FC236}">
                  <a16:creationId xmlns:a16="http://schemas.microsoft.com/office/drawing/2014/main" id="{0F404213-E854-6CF5-9C1F-2E6EA44A03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08864" y="5322855"/>
              <a:ext cx="506445" cy="506445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A8A7881-2B06-3594-77FC-220BBD01C368}"/>
              </a:ext>
            </a:extLst>
          </p:cNvPr>
          <p:cNvGrpSpPr/>
          <p:nvPr/>
        </p:nvGrpSpPr>
        <p:grpSpPr>
          <a:xfrm>
            <a:off x="4543425" y="4661743"/>
            <a:ext cx="3105150" cy="1647825"/>
            <a:chOff x="4543425" y="4661743"/>
            <a:chExt cx="3105150" cy="1647825"/>
          </a:xfrm>
        </p:grpSpPr>
        <p:sp>
          <p:nvSpPr>
            <p:cNvPr id="102" name="Rectangle: Diagonal Corners Rounded 101">
              <a:extLst>
                <a:ext uri="{FF2B5EF4-FFF2-40B4-BE49-F238E27FC236}">
                  <a16:creationId xmlns:a16="http://schemas.microsoft.com/office/drawing/2014/main" id="{A1C3DC28-025E-7B3D-D6AF-84EDA8D43419}"/>
                </a:ext>
              </a:extLst>
            </p:cNvPr>
            <p:cNvSpPr/>
            <p:nvPr/>
          </p:nvSpPr>
          <p:spPr>
            <a:xfrm>
              <a:off x="4543425" y="4661743"/>
              <a:ext cx="3105150" cy="1647825"/>
            </a:xfrm>
            <a:prstGeom prst="round2DiagRect">
              <a:avLst/>
            </a:prstGeom>
            <a:solidFill>
              <a:srgbClr val="0F0F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  <a:latin typeface="Bauhaus 93" panose="04030905020B02020C02" pitchFamily="82" charset="0"/>
                </a:rPr>
                <a:t>    1004277</a:t>
              </a:r>
              <a:endParaRPr lang="en-IN" sz="3200" dirty="0">
                <a:solidFill>
                  <a:schemeClr val="bg1"/>
                </a:solidFill>
                <a:latin typeface="Bauhaus 93" panose="04030905020B02020C02" pitchFamily="82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52AB82E-1E1D-FFB5-83ED-3DB4A3D79F3E}"/>
                </a:ext>
              </a:extLst>
            </p:cNvPr>
            <p:cNvSpPr txBox="1"/>
            <p:nvPr/>
          </p:nvSpPr>
          <p:spPr>
            <a:xfrm>
              <a:off x="5300662" y="4727436"/>
              <a:ext cx="15859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Gadugi" panose="020B0502040204020203" pitchFamily="34" charset="0"/>
                  <a:ea typeface="Gadugi" panose="020B0502040204020203" pitchFamily="34" charset="0"/>
                </a:rPr>
                <a:t>Top Customer</a:t>
              </a:r>
              <a:endParaRPr lang="en-IN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endParaRPr>
            </a:p>
          </p:txBody>
        </p:sp>
        <p:pic>
          <p:nvPicPr>
            <p:cNvPr id="108" name="Graphic 107" descr="Target Audience with solid fill">
              <a:extLst>
                <a:ext uri="{FF2B5EF4-FFF2-40B4-BE49-F238E27FC236}">
                  <a16:creationId xmlns:a16="http://schemas.microsoft.com/office/drawing/2014/main" id="{2E2D67FC-3903-DAEC-D772-814377C014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4887" y="5173503"/>
              <a:ext cx="620840" cy="620840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CE1AAA0-1F06-CAEF-200F-78E53A00932A}"/>
              </a:ext>
            </a:extLst>
          </p:cNvPr>
          <p:cNvGrpSpPr/>
          <p:nvPr/>
        </p:nvGrpSpPr>
        <p:grpSpPr>
          <a:xfrm>
            <a:off x="8405812" y="4661742"/>
            <a:ext cx="3105150" cy="1647825"/>
            <a:chOff x="8405812" y="4661742"/>
            <a:chExt cx="3105150" cy="1647825"/>
          </a:xfrm>
        </p:grpSpPr>
        <p:sp>
          <p:nvSpPr>
            <p:cNvPr id="110" name="Rectangle: Diagonal Corners Rounded 109">
              <a:extLst>
                <a:ext uri="{FF2B5EF4-FFF2-40B4-BE49-F238E27FC236}">
                  <a16:creationId xmlns:a16="http://schemas.microsoft.com/office/drawing/2014/main" id="{1FCCEAC4-47D7-0F44-2A05-BD96423B671E}"/>
                </a:ext>
              </a:extLst>
            </p:cNvPr>
            <p:cNvSpPr/>
            <p:nvPr/>
          </p:nvSpPr>
          <p:spPr>
            <a:xfrm>
              <a:off x="8405812" y="4661742"/>
              <a:ext cx="3105150" cy="1647825"/>
            </a:xfrm>
            <a:prstGeom prst="round2DiagRect">
              <a:avLst/>
            </a:prstGeom>
            <a:solidFill>
              <a:srgbClr val="0F0F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  <a:latin typeface="Bauhaus 93" panose="04030905020B02020C02" pitchFamily="82" charset="0"/>
                </a:rPr>
                <a:t>     P00025442</a:t>
              </a:r>
              <a:endParaRPr lang="en-IN" sz="3200" dirty="0">
                <a:solidFill>
                  <a:schemeClr val="bg1"/>
                </a:solidFill>
                <a:latin typeface="Bauhaus 93" panose="04030905020B02020C02" pitchFamily="82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235AD4B2-C71C-6A76-905C-AB6E4D2E1BF3}"/>
                </a:ext>
              </a:extLst>
            </p:cNvPr>
            <p:cNvSpPr txBox="1"/>
            <p:nvPr/>
          </p:nvSpPr>
          <p:spPr>
            <a:xfrm>
              <a:off x="9281350" y="4727436"/>
              <a:ext cx="15859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Gadugi" panose="020B0502040204020203" pitchFamily="34" charset="0"/>
                  <a:ea typeface="Gadugi" panose="020B0502040204020203" pitchFamily="34" charset="0"/>
                </a:rPr>
                <a:t>Top Product</a:t>
              </a:r>
              <a:endParaRPr lang="en-IN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endParaRPr>
            </a:p>
          </p:txBody>
        </p:sp>
        <p:pic>
          <p:nvPicPr>
            <p:cNvPr id="114" name="Graphic 113" descr="Bar chart with solid fill">
              <a:extLst>
                <a:ext uri="{FF2B5EF4-FFF2-40B4-BE49-F238E27FC236}">
                  <a16:creationId xmlns:a16="http://schemas.microsoft.com/office/drawing/2014/main" id="{0751804E-6EF9-0A4B-CDF6-97AC44FAB3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502682" y="5208460"/>
              <a:ext cx="550927" cy="5509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8804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86" grpId="0" animBg="1"/>
      <p:bldP spid="88" grpId="0"/>
      <p:bldP spid="9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D9CF117-4E95-6A92-076E-BBFB39E1D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A06B22B-F82A-F53F-855B-EB82A454F94A}"/>
              </a:ext>
            </a:extLst>
          </p:cNvPr>
          <p:cNvSpPr txBox="1"/>
          <p:nvPr/>
        </p:nvSpPr>
        <p:spPr>
          <a:xfrm>
            <a:off x="344232" y="228600"/>
            <a:ext cx="6094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4000" dirty="0">
                <a:solidFill>
                  <a:srgbClr val="FF6F00"/>
                </a:solidFill>
                <a:latin typeface="Bauhaus 93" panose="04030905020B02020C02" pitchFamily="82" charset="0"/>
              </a:rPr>
              <a:t>Customer Demographics</a:t>
            </a:r>
            <a:endParaRPr lang="en-IN" sz="4000" dirty="0">
              <a:solidFill>
                <a:srgbClr val="FF6F00"/>
              </a:solidFill>
              <a:latin typeface="Bauhaus 93" panose="04030905020B02020C02" pitchFamily="8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19D144-4C8F-C5FA-25EB-A27BAFD3CBB3}"/>
              </a:ext>
            </a:extLst>
          </p:cNvPr>
          <p:cNvSpPr/>
          <p:nvPr/>
        </p:nvSpPr>
        <p:spPr>
          <a:xfrm>
            <a:off x="952500" y="1019175"/>
            <a:ext cx="5867400" cy="45719"/>
          </a:xfrm>
          <a:prstGeom prst="rect">
            <a:avLst/>
          </a:prstGeom>
          <a:gradFill>
            <a:gsLst>
              <a:gs pos="64000">
                <a:srgbClr val="FF6F00"/>
              </a:gs>
              <a:gs pos="19000">
                <a:srgbClr val="D34817">
                  <a:lumMod val="40000"/>
                  <a:lumOff val="60000"/>
                </a:srgbClr>
              </a:gs>
            </a:gsLst>
            <a:lin ang="27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BF29E3A8-2BC8-E407-F0DA-3439B87273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783145"/>
              </p:ext>
            </p:extLst>
          </p:nvPr>
        </p:nvGraphicFramePr>
        <p:xfrm>
          <a:off x="219076" y="1626869"/>
          <a:ext cx="6286499" cy="3541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76332A56-8824-2702-8407-2802745AA9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6394561"/>
              </p:ext>
            </p:extLst>
          </p:nvPr>
        </p:nvGraphicFramePr>
        <p:xfrm>
          <a:off x="7769161" y="1674284"/>
          <a:ext cx="3721101" cy="34465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12B680AC-C5C9-6A12-EE01-95D16718131A}"/>
              </a:ext>
            </a:extLst>
          </p:cNvPr>
          <p:cNvGrpSpPr/>
          <p:nvPr/>
        </p:nvGrpSpPr>
        <p:grpSpPr>
          <a:xfrm>
            <a:off x="499359" y="5179690"/>
            <a:ext cx="11313268" cy="1521568"/>
            <a:chOff x="499359" y="5179690"/>
            <a:chExt cx="11313268" cy="152156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D63744C-FB5B-671E-4511-21E433D7E39D}"/>
                </a:ext>
              </a:extLst>
            </p:cNvPr>
            <p:cNvSpPr txBox="1"/>
            <p:nvPr/>
          </p:nvSpPr>
          <p:spPr>
            <a:xfrm>
              <a:off x="499359" y="5500929"/>
              <a:ext cx="1131326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</a:rPr>
                <a:t>INSIGHTS :   </a:t>
              </a:r>
              <a:r>
                <a:rPr lang="en-IN" dirty="0">
                  <a:solidFill>
                    <a:schemeClr val="bg1"/>
                  </a:solidFill>
                </a:rPr>
                <a:t>The 26–35 segment is the primary revenue engine, while the customer base is heavily concentrated toward male shoppers.</a:t>
              </a:r>
            </a:p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</a:rPr>
                <a:t>RECOMMENDATION : </a:t>
              </a:r>
              <a:r>
                <a:rPr lang="en-IN" dirty="0">
                  <a:solidFill>
                    <a:schemeClr val="bg1"/>
                  </a:solidFill>
                </a:rPr>
                <a:t>Prioritize 26–35 customers for acquisition, upselling and loyalty campaigns while developing targeted strategies to increase female customer participation.</a:t>
              </a:r>
            </a:p>
          </p:txBody>
        </p:sp>
        <p:sp>
          <p:nvSpPr>
            <p:cNvPr id="18" name="Thought Bubble: Cloud 17">
              <a:extLst>
                <a:ext uri="{FF2B5EF4-FFF2-40B4-BE49-F238E27FC236}">
                  <a16:creationId xmlns:a16="http://schemas.microsoft.com/office/drawing/2014/main" id="{6841A837-777C-7263-276D-F53B673B9D7D}"/>
                </a:ext>
              </a:extLst>
            </p:cNvPr>
            <p:cNvSpPr/>
            <p:nvPr/>
          </p:nvSpPr>
          <p:spPr>
            <a:xfrm rot="245488">
              <a:off x="590097" y="5179690"/>
              <a:ext cx="330741" cy="295902"/>
            </a:xfrm>
            <a:prstGeom prst="cloudCallou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222052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Graphic spid="15" grpId="0">
        <p:bldAsOne/>
      </p:bldGraphic>
      <p:bldGraphic spid="16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BA4247-3EC8-A5FC-647E-BCB84D50D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86A8DB-320A-EC3D-F3BD-E66BA0D7DFDE}"/>
              </a:ext>
            </a:extLst>
          </p:cNvPr>
          <p:cNvSpPr txBox="1"/>
          <p:nvPr/>
        </p:nvSpPr>
        <p:spPr>
          <a:xfrm>
            <a:off x="344232" y="228600"/>
            <a:ext cx="7702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4000" dirty="0">
                <a:solidFill>
                  <a:srgbClr val="FF6F00"/>
                </a:solidFill>
                <a:latin typeface="Bauhaus 93" panose="04030905020B02020C02" pitchFamily="82" charset="0"/>
              </a:rPr>
              <a:t>Where is revenue being created?</a:t>
            </a:r>
            <a:endParaRPr lang="en-IN" sz="4000" dirty="0">
              <a:solidFill>
                <a:srgbClr val="FF6F00"/>
              </a:solidFill>
              <a:latin typeface="Bauhaus 93" panose="04030905020B02020C02" pitchFamily="8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949730-888F-8A71-2FAF-C9636FDE6470}"/>
              </a:ext>
            </a:extLst>
          </p:cNvPr>
          <p:cNvSpPr/>
          <p:nvPr/>
        </p:nvSpPr>
        <p:spPr>
          <a:xfrm>
            <a:off x="1354836" y="1497841"/>
            <a:ext cx="9736836" cy="45719"/>
          </a:xfrm>
          <a:prstGeom prst="rect">
            <a:avLst/>
          </a:prstGeom>
          <a:gradFill>
            <a:gsLst>
              <a:gs pos="64000">
                <a:srgbClr val="FF6F00"/>
              </a:gs>
              <a:gs pos="19000">
                <a:srgbClr val="D34817">
                  <a:lumMod val="40000"/>
                  <a:lumOff val="60000"/>
                </a:srgbClr>
              </a:gs>
            </a:gsLst>
            <a:lin ang="27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0DDCAA-0708-021F-7AD2-98AAD38A810B}"/>
              </a:ext>
            </a:extLst>
          </p:cNvPr>
          <p:cNvSpPr txBox="1"/>
          <p:nvPr/>
        </p:nvSpPr>
        <p:spPr>
          <a:xfrm>
            <a:off x="344232" y="936486"/>
            <a:ext cx="1009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Geographic and occupational patterns reveal where the strongest customer value is concentrated.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D5F4449-C11B-6FB6-1F7D-93FEBBABBD7D}"/>
              </a:ext>
            </a:extLst>
          </p:cNvPr>
          <p:cNvSpPr/>
          <p:nvPr/>
        </p:nvSpPr>
        <p:spPr>
          <a:xfrm>
            <a:off x="440663" y="2423160"/>
            <a:ext cx="5227320" cy="171907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1938FE-68FE-D278-CD2C-DD89B7E88634}"/>
              </a:ext>
            </a:extLst>
          </p:cNvPr>
          <p:cNvSpPr txBox="1"/>
          <p:nvPr/>
        </p:nvSpPr>
        <p:spPr>
          <a:xfrm>
            <a:off x="669036" y="258478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City A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5620E1-737E-3298-C544-567234A270D7}"/>
              </a:ext>
            </a:extLst>
          </p:cNvPr>
          <p:cNvSpPr txBox="1"/>
          <p:nvPr/>
        </p:nvSpPr>
        <p:spPr>
          <a:xfrm>
            <a:off x="3744046" y="258478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City C</a:t>
            </a:r>
            <a:endParaRPr lang="en-IN" b="1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740818-4B32-8039-37B0-74551A94E63B}"/>
              </a:ext>
            </a:extLst>
          </p:cNvPr>
          <p:cNvGrpSpPr/>
          <p:nvPr/>
        </p:nvGrpSpPr>
        <p:grpSpPr>
          <a:xfrm>
            <a:off x="518485" y="2463424"/>
            <a:ext cx="5227320" cy="1619493"/>
            <a:chOff x="518485" y="2463424"/>
            <a:chExt cx="5227320" cy="161949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0A9CF5A-A4B2-EE07-1F20-BCD531BA0F60}"/>
                </a:ext>
              </a:extLst>
            </p:cNvPr>
            <p:cNvSpPr txBox="1"/>
            <p:nvPr/>
          </p:nvSpPr>
          <p:spPr>
            <a:xfrm>
              <a:off x="2116836" y="2463424"/>
              <a:ext cx="15510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accent6">
                      <a:lumMod val="75000"/>
                    </a:schemeClr>
                  </a:solidFill>
                </a:rPr>
                <a:t>City B</a:t>
              </a:r>
              <a:endParaRPr lang="en-IN" sz="32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7" name="Arrow: Up 16">
              <a:extLst>
                <a:ext uri="{FF2B5EF4-FFF2-40B4-BE49-F238E27FC236}">
                  <a16:creationId xmlns:a16="http://schemas.microsoft.com/office/drawing/2014/main" id="{C19C7F93-7DAA-6FF3-96DB-DF368C8C0485}"/>
                </a:ext>
              </a:extLst>
            </p:cNvPr>
            <p:cNvSpPr/>
            <p:nvPr/>
          </p:nvSpPr>
          <p:spPr>
            <a:xfrm>
              <a:off x="2816141" y="3048199"/>
              <a:ext cx="162144" cy="380801"/>
            </a:xfrm>
            <a:prstGeom prst="up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6D70DD9-4577-12D1-3EF2-5FBE296FF1D0}"/>
                </a:ext>
              </a:extLst>
            </p:cNvPr>
            <p:cNvSpPr txBox="1"/>
            <p:nvPr/>
          </p:nvSpPr>
          <p:spPr>
            <a:xfrm>
              <a:off x="518485" y="3436586"/>
              <a:ext cx="52273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highlight>
                    <a:srgbClr val="000000"/>
                  </a:highlight>
                </a:rPr>
                <a:t>Highest Contributor with 41.5 % Contribution in total sales</a:t>
              </a:r>
              <a:endParaRPr lang="en-IN" dirty="0">
                <a:solidFill>
                  <a:schemeClr val="accent6">
                    <a:lumMod val="75000"/>
                  </a:schemeClr>
                </a:solidFill>
                <a:highlight>
                  <a:srgbClr val="000000"/>
                </a:highlight>
              </a:endParaRPr>
            </a:p>
          </p:txBody>
        </p:sp>
      </p:grp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46470E23-73A8-8C74-CB84-69B1B2D5C8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8195369"/>
              </p:ext>
            </p:extLst>
          </p:nvPr>
        </p:nvGraphicFramePr>
        <p:xfrm>
          <a:off x="6245156" y="1872973"/>
          <a:ext cx="5506181" cy="29908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A280CAAC-A49B-8773-ADFA-D8E204F12B42}"/>
              </a:ext>
            </a:extLst>
          </p:cNvPr>
          <p:cNvGrpSpPr/>
          <p:nvPr/>
        </p:nvGrpSpPr>
        <p:grpSpPr>
          <a:xfrm>
            <a:off x="344232" y="4875252"/>
            <a:ext cx="11313268" cy="1547290"/>
            <a:chOff x="344232" y="4875252"/>
            <a:chExt cx="11313268" cy="1547290"/>
          </a:xfrm>
        </p:grpSpPr>
        <p:sp>
          <p:nvSpPr>
            <p:cNvPr id="27" name="Thought Bubble: Cloud 26">
              <a:extLst>
                <a:ext uri="{FF2B5EF4-FFF2-40B4-BE49-F238E27FC236}">
                  <a16:creationId xmlns:a16="http://schemas.microsoft.com/office/drawing/2014/main" id="{6C1603A0-08A2-6446-5758-EAE17BBE7F7A}"/>
                </a:ext>
              </a:extLst>
            </p:cNvPr>
            <p:cNvSpPr/>
            <p:nvPr/>
          </p:nvSpPr>
          <p:spPr>
            <a:xfrm rot="245488">
              <a:off x="450798" y="4875252"/>
              <a:ext cx="330741" cy="295902"/>
            </a:xfrm>
            <a:prstGeom prst="cloudCallou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B36DCBC-5A38-280F-6EE3-29C22121921A}"/>
                </a:ext>
              </a:extLst>
            </p:cNvPr>
            <p:cNvSpPr txBox="1"/>
            <p:nvPr/>
          </p:nvSpPr>
          <p:spPr>
            <a:xfrm>
              <a:off x="344232" y="5222213"/>
              <a:ext cx="1131326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</a:rPr>
                <a:t>INSIGHTS :  </a:t>
              </a:r>
              <a:r>
                <a:rPr lang="en-IN" dirty="0">
                  <a:solidFill>
                    <a:schemeClr val="bg1"/>
                  </a:solidFill>
                </a:rPr>
                <a:t>Sales contribution varies meaningfully across occupation groups, suggesting that customer profession is useful for audience segmentation.</a:t>
              </a:r>
              <a:r>
                <a:rPr lang="en-IN" dirty="0"/>
                <a:t>.</a:t>
              </a:r>
            </a:p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</a:rPr>
                <a:t>RECOMMENDATION : </a:t>
              </a:r>
              <a:r>
                <a:rPr lang="en-IN" dirty="0">
                  <a:solidFill>
                    <a:schemeClr val="bg1"/>
                  </a:solidFill>
                </a:rPr>
                <a:t>Protect City B’s strong revenue base while using city- and occupation-specific campaigns to improve marketing efficiency in other customer segments.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0592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/>
      <p:bldP spid="16" grpId="0"/>
      <p:bldGraphic spid="24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540CCE-0A07-4571-0018-2CC463E57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918AB2-4E91-2489-D3EF-E724BD060AF2}"/>
              </a:ext>
            </a:extLst>
          </p:cNvPr>
          <p:cNvSpPr txBox="1"/>
          <p:nvPr/>
        </p:nvSpPr>
        <p:spPr>
          <a:xfrm>
            <a:off x="344232" y="228600"/>
            <a:ext cx="7702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4000" dirty="0">
                <a:solidFill>
                  <a:srgbClr val="FF6F00"/>
                </a:solidFill>
                <a:latin typeface="Bauhaus 93" panose="04030905020B02020C02" pitchFamily="82" charset="0"/>
              </a:rPr>
              <a:t>Marketing &amp; Customer Value</a:t>
            </a:r>
            <a:endParaRPr lang="en-IN" sz="4000" dirty="0">
              <a:solidFill>
                <a:srgbClr val="FF6F00"/>
              </a:solidFill>
              <a:latin typeface="Bauhaus 93" panose="04030905020B02020C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F81881-146C-ACAD-90C8-C82ECD86CFEE}"/>
              </a:ext>
            </a:extLst>
          </p:cNvPr>
          <p:cNvSpPr txBox="1"/>
          <p:nvPr/>
        </p:nvSpPr>
        <p:spPr>
          <a:xfrm>
            <a:off x="344231" y="936486"/>
            <a:ext cx="9295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Customer value and purchase behaviour reveal the strongest opportunities for targeted marketing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793812-2254-0449-2FE4-3E96C6594FDE}"/>
              </a:ext>
            </a:extLst>
          </p:cNvPr>
          <p:cNvSpPr/>
          <p:nvPr/>
        </p:nvSpPr>
        <p:spPr>
          <a:xfrm flipV="1">
            <a:off x="1135379" y="1433832"/>
            <a:ext cx="9526135" cy="45719"/>
          </a:xfrm>
          <a:prstGeom prst="rect">
            <a:avLst/>
          </a:prstGeom>
          <a:gradFill>
            <a:gsLst>
              <a:gs pos="64000">
                <a:srgbClr val="FF6F00"/>
              </a:gs>
              <a:gs pos="19000">
                <a:srgbClr val="D34817">
                  <a:lumMod val="40000"/>
                  <a:lumOff val="60000"/>
                </a:srgbClr>
              </a:gs>
            </a:gsLst>
            <a:lin ang="27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EBE099D9-EA55-6539-35F5-7CF3E6AD72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6062609"/>
              </p:ext>
            </p:extLst>
          </p:nvPr>
        </p:nvGraphicFramePr>
        <p:xfrm>
          <a:off x="149158" y="1699003"/>
          <a:ext cx="5056719" cy="32671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4BB619C8-933C-74E3-383A-9346A39CAC66}"/>
              </a:ext>
            </a:extLst>
          </p:cNvPr>
          <p:cNvGrpSpPr/>
          <p:nvPr/>
        </p:nvGrpSpPr>
        <p:grpSpPr>
          <a:xfrm>
            <a:off x="344232" y="5740061"/>
            <a:ext cx="11698611" cy="1085278"/>
            <a:chOff x="344232" y="5740061"/>
            <a:chExt cx="11698611" cy="1085278"/>
          </a:xfrm>
        </p:grpSpPr>
        <p:sp>
          <p:nvSpPr>
            <p:cNvPr id="13" name="Thought Bubble: Cloud 12">
              <a:extLst>
                <a:ext uri="{FF2B5EF4-FFF2-40B4-BE49-F238E27FC236}">
                  <a16:creationId xmlns:a16="http://schemas.microsoft.com/office/drawing/2014/main" id="{FC9F3ED9-3AF6-A70B-FDB4-4704EF439BF9}"/>
                </a:ext>
              </a:extLst>
            </p:cNvPr>
            <p:cNvSpPr/>
            <p:nvPr/>
          </p:nvSpPr>
          <p:spPr>
            <a:xfrm rot="245488">
              <a:off x="432967" y="5740061"/>
              <a:ext cx="330741" cy="295902"/>
            </a:xfrm>
            <a:prstGeom prst="cloudCallou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2C4BF3B-7DBC-0022-2D38-3F595E4B0194}"/>
                </a:ext>
              </a:extLst>
            </p:cNvPr>
            <p:cNvSpPr txBox="1"/>
            <p:nvPr/>
          </p:nvSpPr>
          <p:spPr>
            <a:xfrm>
              <a:off x="344232" y="6179008"/>
              <a:ext cx="1169861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</a:rPr>
                <a:t>INSIGHTS :  </a:t>
              </a:r>
              <a:r>
                <a:rPr lang="en-IN" dirty="0">
                  <a:solidFill>
                    <a:schemeClr val="bg1"/>
                  </a:solidFill>
                </a:rPr>
                <a:t>26–35 customers show the highest purchase frequency, while High Value customers generate substantially higher average CLV.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3AA8DB4-96E1-1EF9-45C1-3E44532828C8}"/>
              </a:ext>
            </a:extLst>
          </p:cNvPr>
          <p:cNvGrpSpPr/>
          <p:nvPr/>
        </p:nvGrpSpPr>
        <p:grpSpPr>
          <a:xfrm>
            <a:off x="5613439" y="1721862"/>
            <a:ext cx="2485739" cy="1758269"/>
            <a:chOff x="5613439" y="1721862"/>
            <a:chExt cx="2485739" cy="1758269"/>
          </a:xfrm>
        </p:grpSpPr>
        <p:sp>
          <p:nvSpPr>
            <p:cNvPr id="19" name="Rectangle: Diagonal Corners Rounded 18">
              <a:extLst>
                <a:ext uri="{FF2B5EF4-FFF2-40B4-BE49-F238E27FC236}">
                  <a16:creationId xmlns:a16="http://schemas.microsoft.com/office/drawing/2014/main" id="{09204273-D029-0A44-E76A-FDFC6D355CFC}"/>
                </a:ext>
              </a:extLst>
            </p:cNvPr>
            <p:cNvSpPr/>
            <p:nvPr/>
          </p:nvSpPr>
          <p:spPr>
            <a:xfrm>
              <a:off x="5613439" y="1750134"/>
              <a:ext cx="2485739" cy="1729997"/>
            </a:xfrm>
            <a:prstGeom prst="round2DiagRect">
              <a:avLst/>
            </a:prstGeom>
            <a:solidFill>
              <a:srgbClr val="0F0F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solidFill>
                    <a:schemeClr val="bg1"/>
                  </a:solidFill>
                  <a:latin typeface="Bauhaus 93" panose="04030905020B02020C02" pitchFamily="82" charset="0"/>
                </a:rPr>
                <a:t>9.26k</a:t>
              </a:r>
              <a:endParaRPr lang="en-IN" sz="6000" dirty="0">
                <a:solidFill>
                  <a:schemeClr val="bg1"/>
                </a:solidFill>
                <a:latin typeface="Bauhaus 93" panose="04030905020B02020C02" pitchFamily="8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722AE0D-C5E8-F865-548D-89C10560479F}"/>
                </a:ext>
              </a:extLst>
            </p:cNvPr>
            <p:cNvSpPr txBox="1"/>
            <p:nvPr/>
          </p:nvSpPr>
          <p:spPr>
            <a:xfrm>
              <a:off x="6279863" y="1721862"/>
              <a:ext cx="12578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Gadugi" panose="020B0502040204020203" pitchFamily="34" charset="0"/>
                  <a:ea typeface="Gadugi" panose="020B0502040204020203" pitchFamily="34" charset="0"/>
                </a:rPr>
                <a:t>Avg CLV</a:t>
              </a:r>
              <a:endParaRPr lang="en-IN" sz="20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endParaRPr>
            </a:p>
          </p:txBody>
        </p:sp>
        <p:sp>
          <p:nvSpPr>
            <p:cNvPr id="23" name="Rectangle: Single Corner Snipped 22">
              <a:extLst>
                <a:ext uri="{FF2B5EF4-FFF2-40B4-BE49-F238E27FC236}">
                  <a16:creationId xmlns:a16="http://schemas.microsoft.com/office/drawing/2014/main" id="{0EEBEAD0-7CF7-6DCD-A470-78BF817331C8}"/>
                </a:ext>
              </a:extLst>
            </p:cNvPr>
            <p:cNvSpPr/>
            <p:nvPr/>
          </p:nvSpPr>
          <p:spPr>
            <a:xfrm>
              <a:off x="5665898" y="3131308"/>
              <a:ext cx="2380822" cy="219453"/>
            </a:xfrm>
            <a:prstGeom prst="snip1Rect">
              <a:avLst>
                <a:gd name="adj" fmla="val 50000"/>
              </a:avLst>
            </a:prstGeom>
            <a:solidFill>
              <a:srgbClr val="FF6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EC1FDAE-96E4-D0F5-5EB2-CE7AB3C13DE5}"/>
              </a:ext>
            </a:extLst>
          </p:cNvPr>
          <p:cNvGrpSpPr/>
          <p:nvPr/>
        </p:nvGrpSpPr>
        <p:grpSpPr>
          <a:xfrm>
            <a:off x="5555879" y="3945446"/>
            <a:ext cx="2705774" cy="1766884"/>
            <a:chOff x="5555879" y="3945446"/>
            <a:chExt cx="2705774" cy="1766884"/>
          </a:xfrm>
        </p:grpSpPr>
        <p:sp>
          <p:nvSpPr>
            <p:cNvPr id="25" name="Rectangle: Diagonal Corners Rounded 24">
              <a:extLst>
                <a:ext uri="{FF2B5EF4-FFF2-40B4-BE49-F238E27FC236}">
                  <a16:creationId xmlns:a16="http://schemas.microsoft.com/office/drawing/2014/main" id="{2E8E7E48-547C-69F2-CF47-0DBCB9BA839F}"/>
                </a:ext>
              </a:extLst>
            </p:cNvPr>
            <p:cNvSpPr/>
            <p:nvPr/>
          </p:nvSpPr>
          <p:spPr>
            <a:xfrm>
              <a:off x="5613438" y="3978107"/>
              <a:ext cx="2485739" cy="1729997"/>
            </a:xfrm>
            <a:prstGeom prst="round2DiagRect">
              <a:avLst/>
            </a:prstGeom>
            <a:solidFill>
              <a:srgbClr val="0F0F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solidFill>
                    <a:schemeClr val="accent6">
                      <a:lumMod val="75000"/>
                    </a:schemeClr>
                  </a:solidFill>
                  <a:latin typeface="Bauhaus 93" panose="04030905020B02020C02" pitchFamily="82" charset="0"/>
                </a:rPr>
                <a:t>9.3k</a:t>
              </a:r>
              <a:endParaRPr lang="en-IN" sz="6000" dirty="0"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619F441-35D0-A6F6-3B29-36A5CBFFA477}"/>
                </a:ext>
              </a:extLst>
            </p:cNvPr>
            <p:cNvSpPr txBox="1"/>
            <p:nvPr/>
          </p:nvSpPr>
          <p:spPr>
            <a:xfrm>
              <a:off x="5555879" y="3945446"/>
              <a:ext cx="27057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Gadugi" panose="020B0502040204020203" pitchFamily="34" charset="0"/>
                  <a:ea typeface="Gadugi" panose="020B0502040204020203" pitchFamily="34" charset="0"/>
                </a:rPr>
                <a:t>High Value Customer</a:t>
              </a:r>
              <a:endParaRPr lang="en-IN" sz="20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FB6D28C-3460-79BE-FB42-ADBB01D0CF28}"/>
                </a:ext>
              </a:extLst>
            </p:cNvPr>
            <p:cNvSpPr txBox="1"/>
            <p:nvPr/>
          </p:nvSpPr>
          <p:spPr>
            <a:xfrm>
              <a:off x="6392559" y="5159694"/>
              <a:ext cx="11575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Gadugi" panose="020B0502040204020203" pitchFamily="34" charset="0"/>
                  <a:ea typeface="Gadugi" panose="020B0502040204020203" pitchFamily="34" charset="0"/>
                </a:rPr>
                <a:t>Avg CLV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30409F5-C522-39FF-0CAA-BC575F65C32D}"/>
                </a:ext>
              </a:extLst>
            </p:cNvPr>
            <p:cNvSpPr txBox="1"/>
            <p:nvPr/>
          </p:nvSpPr>
          <p:spPr>
            <a:xfrm>
              <a:off x="5890466" y="5404553"/>
              <a:ext cx="22475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6">
                      <a:lumMod val="75000"/>
                    </a:schemeClr>
                  </a:solidFill>
                  <a:latin typeface="Gadugi" panose="020B0502040204020203" pitchFamily="34" charset="0"/>
                  <a:ea typeface="Gadugi" panose="020B0502040204020203" pitchFamily="34" charset="0"/>
                </a:rPr>
                <a:t>High Value Segment</a:t>
              </a:r>
              <a:endParaRPr lang="en-IN" sz="1400" dirty="0">
                <a:solidFill>
                  <a:schemeClr val="accent6">
                    <a:lumMod val="75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endParaRPr>
            </a:p>
          </p:txBody>
        </p:sp>
      </p:grp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60F2FD8-6787-8A8F-EEA1-3A5AB7200759}"/>
              </a:ext>
            </a:extLst>
          </p:cNvPr>
          <p:cNvSpPr/>
          <p:nvPr/>
        </p:nvSpPr>
        <p:spPr>
          <a:xfrm>
            <a:off x="6908767" y="3658024"/>
            <a:ext cx="5056719" cy="221091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246DBEB-E03D-A500-58BF-AC46CD0809BA}"/>
              </a:ext>
            </a:extLst>
          </p:cNvPr>
          <p:cNvSpPr/>
          <p:nvPr/>
        </p:nvSpPr>
        <p:spPr>
          <a:xfrm>
            <a:off x="8187075" y="1711571"/>
            <a:ext cx="3998447" cy="3996533"/>
          </a:xfrm>
          <a:prstGeom prst="roundRect">
            <a:avLst>
              <a:gd name="adj" fmla="val 4382"/>
            </a:avLst>
          </a:prstGeom>
          <a:solidFill>
            <a:srgbClr val="1B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A20AF4-09F1-50C6-E6EC-82A967DB2676}"/>
              </a:ext>
            </a:extLst>
          </p:cNvPr>
          <p:cNvSpPr txBox="1"/>
          <p:nvPr/>
        </p:nvSpPr>
        <p:spPr>
          <a:xfrm>
            <a:off x="9135402" y="1699002"/>
            <a:ext cx="216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RECOMMENDATION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20ADBA1-4E9E-922E-397B-41332F1CF2D3}"/>
              </a:ext>
            </a:extLst>
          </p:cNvPr>
          <p:cNvGrpSpPr/>
          <p:nvPr/>
        </p:nvGrpSpPr>
        <p:grpSpPr>
          <a:xfrm>
            <a:off x="8362658" y="2246647"/>
            <a:ext cx="3751985" cy="758174"/>
            <a:chOff x="8362658" y="2246647"/>
            <a:chExt cx="3751985" cy="758174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AD4A6BF-A947-7A73-74EE-34C9E8D9F515}"/>
                </a:ext>
              </a:extLst>
            </p:cNvPr>
            <p:cNvSpPr/>
            <p:nvPr/>
          </p:nvSpPr>
          <p:spPr>
            <a:xfrm>
              <a:off x="8362658" y="2246647"/>
              <a:ext cx="45719" cy="75817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626498B-8A13-1A08-7034-6742F78A189F}"/>
                </a:ext>
              </a:extLst>
            </p:cNvPr>
            <p:cNvSpPr txBox="1"/>
            <p:nvPr/>
          </p:nvSpPr>
          <p:spPr>
            <a:xfrm>
              <a:off x="8436352" y="2287785"/>
              <a:ext cx="36782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accent6">
                      <a:lumMod val="75000"/>
                    </a:schemeClr>
                  </a:solidFill>
                </a:rPr>
                <a:t>01</a:t>
              </a:r>
              <a:r>
                <a:rPr lang="en-IN" b="1" dirty="0">
                  <a:solidFill>
                    <a:schemeClr val="bg1"/>
                  </a:solidFill>
                </a:rPr>
                <a:t> — Prioritize </a:t>
              </a:r>
              <a:r>
                <a:rPr lang="en-IN" b="1" dirty="0">
                  <a:solidFill>
                    <a:schemeClr val="accent3"/>
                  </a:solidFill>
                </a:rPr>
                <a:t>26–35</a:t>
              </a:r>
              <a:br>
                <a:rPr lang="en-IN" dirty="0">
                  <a:solidFill>
                    <a:schemeClr val="bg1"/>
                  </a:solidFill>
                </a:rPr>
              </a:br>
              <a:r>
                <a:rPr lang="en-IN" dirty="0">
                  <a:solidFill>
                    <a:schemeClr val="bg1"/>
                  </a:solidFill>
                </a:rPr>
                <a:t>Highest purchase frequency at </a:t>
              </a:r>
              <a:r>
                <a:rPr lang="en-IN" b="1" dirty="0">
                  <a:solidFill>
                    <a:schemeClr val="accent3"/>
                  </a:solidFill>
                </a:rPr>
                <a:t>107.0</a:t>
              </a:r>
              <a:endParaRPr lang="en-IN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2EFA3B5-2B1E-C35A-4078-487AA0E7BAA5}"/>
              </a:ext>
            </a:extLst>
          </p:cNvPr>
          <p:cNvGrpSpPr/>
          <p:nvPr/>
        </p:nvGrpSpPr>
        <p:grpSpPr>
          <a:xfrm>
            <a:off x="8362658" y="3497327"/>
            <a:ext cx="4123397" cy="758174"/>
            <a:chOff x="8362658" y="3497327"/>
            <a:chExt cx="4123397" cy="758174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DDC1F3B-5768-01B6-05AC-0A8CC21A12A2}"/>
                </a:ext>
              </a:extLst>
            </p:cNvPr>
            <p:cNvSpPr/>
            <p:nvPr/>
          </p:nvSpPr>
          <p:spPr>
            <a:xfrm>
              <a:off x="8362658" y="3497327"/>
              <a:ext cx="45719" cy="75817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71E9C05-780A-D5C1-1ACE-CC865130AD82}"/>
                </a:ext>
              </a:extLst>
            </p:cNvPr>
            <p:cNvSpPr txBox="1"/>
            <p:nvPr/>
          </p:nvSpPr>
          <p:spPr>
            <a:xfrm>
              <a:off x="8424129" y="3526934"/>
              <a:ext cx="40619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accent6">
                      <a:lumMod val="75000"/>
                    </a:schemeClr>
                  </a:solidFill>
                </a:rPr>
                <a:t>02</a:t>
              </a:r>
              <a:r>
                <a:rPr lang="en-IN" b="1" dirty="0">
                  <a:solidFill>
                    <a:schemeClr val="bg1"/>
                  </a:solidFill>
                </a:rPr>
                <a:t> — Retain High-Value Customers</a:t>
              </a:r>
              <a:br>
                <a:rPr lang="en-IN" dirty="0">
                  <a:solidFill>
                    <a:schemeClr val="bg1"/>
                  </a:solidFill>
                </a:rPr>
              </a:br>
              <a:r>
                <a:rPr lang="en-IN" dirty="0">
                  <a:solidFill>
                    <a:schemeClr val="bg1"/>
                  </a:solidFill>
                </a:rPr>
                <a:t>High Value segment averages </a:t>
              </a:r>
              <a:r>
                <a:rPr lang="en-IN" b="1" dirty="0">
                  <a:solidFill>
                    <a:schemeClr val="accent3"/>
                  </a:solidFill>
                </a:rPr>
                <a:t>₹9.3K CLV</a:t>
              </a:r>
              <a:endParaRPr lang="en-IN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0E1DCDF-0EF6-A3E4-9C84-8407A8802055}"/>
              </a:ext>
            </a:extLst>
          </p:cNvPr>
          <p:cNvGrpSpPr/>
          <p:nvPr/>
        </p:nvGrpSpPr>
        <p:grpSpPr>
          <a:xfrm>
            <a:off x="8362658" y="4649235"/>
            <a:ext cx="4710043" cy="923330"/>
            <a:chOff x="8362658" y="4649235"/>
            <a:chExt cx="4710043" cy="92333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57B60B7-68D7-53F6-90AE-D8C09A951DD4}"/>
                </a:ext>
              </a:extLst>
            </p:cNvPr>
            <p:cNvSpPr/>
            <p:nvPr/>
          </p:nvSpPr>
          <p:spPr>
            <a:xfrm>
              <a:off x="8362658" y="4748006"/>
              <a:ext cx="45719" cy="75817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FF75B13-2082-13AC-BABB-29D189B5B473}"/>
                </a:ext>
              </a:extLst>
            </p:cNvPr>
            <p:cNvSpPr txBox="1"/>
            <p:nvPr/>
          </p:nvSpPr>
          <p:spPr>
            <a:xfrm>
              <a:off x="8441887" y="4649235"/>
              <a:ext cx="46308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accent6">
                      <a:lumMod val="75000"/>
                    </a:schemeClr>
                  </a:solidFill>
                </a:rPr>
                <a:t>03</a:t>
              </a:r>
              <a:r>
                <a:rPr lang="en-IN" b="1" dirty="0">
                  <a:solidFill>
                    <a:schemeClr val="bg1"/>
                  </a:solidFill>
                </a:rPr>
                <a:t> — Personalize Promotions</a:t>
              </a:r>
              <a:br>
                <a:rPr lang="en-IN" dirty="0">
                  <a:solidFill>
                    <a:schemeClr val="bg1"/>
                  </a:solidFill>
                </a:rPr>
              </a:br>
              <a:r>
                <a:rPr lang="en-IN" dirty="0">
                  <a:solidFill>
                    <a:schemeClr val="bg1"/>
                  </a:solidFill>
                </a:rPr>
                <a:t>Target customers based on value and purchasing behaviour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420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Graphic spid="11" grpId="0">
        <p:bldAsOne/>
      </p:bldGraphic>
      <p:bldP spid="33" grpId="0" animBg="1"/>
      <p:bldP spid="4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500410-7C2F-29B6-B429-64E4BE78B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C579BC-836C-597D-F133-E459524BB662}"/>
              </a:ext>
            </a:extLst>
          </p:cNvPr>
          <p:cNvSpPr txBox="1"/>
          <p:nvPr/>
        </p:nvSpPr>
        <p:spPr>
          <a:xfrm>
            <a:off x="344232" y="228600"/>
            <a:ext cx="7702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4000" dirty="0">
                <a:solidFill>
                  <a:srgbClr val="FF6F00"/>
                </a:solidFill>
                <a:latin typeface="Bauhaus 93" panose="04030905020B02020C02" pitchFamily="82" charset="0"/>
              </a:rPr>
              <a:t>Product Performance Insights</a:t>
            </a:r>
            <a:endParaRPr lang="en-IN" sz="4000" dirty="0">
              <a:solidFill>
                <a:srgbClr val="FF6F00"/>
              </a:solidFill>
              <a:latin typeface="Bauhaus 93" panose="04030905020B02020C02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082029-1419-08E7-80B6-9DBB6DFD00AD}"/>
              </a:ext>
            </a:extLst>
          </p:cNvPr>
          <p:cNvSpPr txBox="1"/>
          <p:nvPr/>
        </p:nvSpPr>
        <p:spPr>
          <a:xfrm>
            <a:off x="344232" y="936486"/>
            <a:ext cx="8607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Top Performing Product categories reveal where demand and revenue are concentrated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1BF4C0-76AF-EE60-4C4B-EBA0D8AB524B}"/>
              </a:ext>
            </a:extLst>
          </p:cNvPr>
          <p:cNvSpPr/>
          <p:nvPr/>
        </p:nvSpPr>
        <p:spPr>
          <a:xfrm>
            <a:off x="1135380" y="1479551"/>
            <a:ext cx="8438388" cy="45719"/>
          </a:xfrm>
          <a:prstGeom prst="rect">
            <a:avLst/>
          </a:prstGeom>
          <a:gradFill>
            <a:gsLst>
              <a:gs pos="64000">
                <a:srgbClr val="FF6F00"/>
              </a:gs>
              <a:gs pos="19000">
                <a:srgbClr val="D34817">
                  <a:lumMod val="40000"/>
                  <a:lumOff val="60000"/>
                </a:srgbClr>
              </a:gs>
            </a:gsLst>
            <a:lin ang="27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55B3585D-575E-9436-3C72-D98AC0576D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906515"/>
              </p:ext>
            </p:extLst>
          </p:nvPr>
        </p:nvGraphicFramePr>
        <p:xfrm>
          <a:off x="344232" y="1699003"/>
          <a:ext cx="4903821" cy="30215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18B9D52A-888C-5BE2-5679-D513FD08A99C}"/>
              </a:ext>
            </a:extLst>
          </p:cNvPr>
          <p:cNvGrpSpPr/>
          <p:nvPr/>
        </p:nvGrpSpPr>
        <p:grpSpPr>
          <a:xfrm>
            <a:off x="344232" y="5255950"/>
            <a:ext cx="11698611" cy="1507653"/>
            <a:chOff x="344232" y="5255950"/>
            <a:chExt cx="11698611" cy="150765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1EAC36A-E4A4-7AD6-5C2C-B8740158BB7E}"/>
                </a:ext>
              </a:extLst>
            </p:cNvPr>
            <p:cNvSpPr txBox="1"/>
            <p:nvPr/>
          </p:nvSpPr>
          <p:spPr>
            <a:xfrm>
              <a:off x="344232" y="5563274"/>
              <a:ext cx="11698611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</a:rPr>
                <a:t>INSIGHTS :  </a:t>
              </a:r>
              <a:r>
                <a:rPr lang="en-IN" dirty="0">
                  <a:solidFill>
                    <a:schemeClr val="bg1"/>
                  </a:solidFill>
                </a:rPr>
                <a:t>Sales are concentrated in a small number of product categories, with the leading category generating approximately ₹1.91B. This indicates that customer demand is not evenly distributed across the product portfolio.</a:t>
              </a:r>
            </a:p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</a:rPr>
                <a:t>RECOMMENDATION : </a:t>
              </a:r>
              <a:r>
                <a:rPr lang="en-IN" dirty="0">
                  <a:solidFill>
                    <a:schemeClr val="bg1"/>
                  </a:solidFill>
                </a:rPr>
                <a:t>Prioritize inventory and promotions for high-performing categories while using bundles and cross-selling to improve demand for complementary products.</a:t>
              </a:r>
            </a:p>
          </p:txBody>
        </p:sp>
        <p:sp>
          <p:nvSpPr>
            <p:cNvPr id="8" name="Thought Bubble: Cloud 7">
              <a:extLst>
                <a:ext uri="{FF2B5EF4-FFF2-40B4-BE49-F238E27FC236}">
                  <a16:creationId xmlns:a16="http://schemas.microsoft.com/office/drawing/2014/main" id="{3CE3056B-8E37-25B4-4B57-F291C1BBE0DD}"/>
                </a:ext>
              </a:extLst>
            </p:cNvPr>
            <p:cNvSpPr/>
            <p:nvPr/>
          </p:nvSpPr>
          <p:spPr>
            <a:xfrm rot="245488">
              <a:off x="432967" y="5255950"/>
              <a:ext cx="330741" cy="295902"/>
            </a:xfrm>
            <a:prstGeom prst="cloudCallou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0" name="Callout: Down Arrow 9">
            <a:extLst>
              <a:ext uri="{FF2B5EF4-FFF2-40B4-BE49-F238E27FC236}">
                <a16:creationId xmlns:a16="http://schemas.microsoft.com/office/drawing/2014/main" id="{DE657585-28FE-AC27-B3F6-66FC5C733595}"/>
              </a:ext>
            </a:extLst>
          </p:cNvPr>
          <p:cNvSpPr/>
          <p:nvPr/>
        </p:nvSpPr>
        <p:spPr>
          <a:xfrm>
            <a:off x="8346332" y="1916349"/>
            <a:ext cx="2393004" cy="777582"/>
          </a:xfrm>
          <a:prstGeom prst="downArrowCallout">
            <a:avLst>
              <a:gd name="adj1" fmla="val 22498"/>
              <a:gd name="adj2" fmla="val 19996"/>
              <a:gd name="adj3" fmla="val 22498"/>
              <a:gd name="adj4" fmla="val 64977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HIGH DEMAND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Callout: Down Arrow 12">
            <a:extLst>
              <a:ext uri="{FF2B5EF4-FFF2-40B4-BE49-F238E27FC236}">
                <a16:creationId xmlns:a16="http://schemas.microsoft.com/office/drawing/2014/main" id="{2176B823-FEBC-2BA1-71B4-875A1E758FBD}"/>
              </a:ext>
            </a:extLst>
          </p:cNvPr>
          <p:cNvSpPr/>
          <p:nvPr/>
        </p:nvSpPr>
        <p:spPr>
          <a:xfrm>
            <a:off x="8346332" y="2816130"/>
            <a:ext cx="2393004" cy="720479"/>
          </a:xfrm>
          <a:prstGeom prst="downArrowCallou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HIGH SALES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379C59-4210-5B6E-2ECA-28B13B127DDE}"/>
              </a:ext>
            </a:extLst>
          </p:cNvPr>
          <p:cNvSpPr/>
          <p:nvPr/>
        </p:nvSpPr>
        <p:spPr>
          <a:xfrm>
            <a:off x="8346332" y="3706238"/>
            <a:ext cx="2393004" cy="46892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INVENTORY PRIORITY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71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Graphic spid="12" grpId="0">
        <p:bldAsOne/>
      </p:bldGraphic>
      <p:bldP spid="10" grpId="0" build="allAtOnce" animBg="1"/>
      <p:bldP spid="13" grpId="0" build="allAtOnce" animBg="1"/>
      <p:bldP spid="14" grpId="0" build="allAtOnce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ED5694-AB1B-DA04-0816-C57F3B151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DFD416-A3F0-A0F1-1A6F-60C34CCE2FC5}"/>
              </a:ext>
            </a:extLst>
          </p:cNvPr>
          <p:cNvSpPr txBox="1"/>
          <p:nvPr/>
        </p:nvSpPr>
        <p:spPr>
          <a:xfrm>
            <a:off x="344232" y="228600"/>
            <a:ext cx="7702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4000" dirty="0">
                <a:solidFill>
                  <a:srgbClr val="FF6F00"/>
                </a:solidFill>
                <a:latin typeface="Bauhaus 93" panose="04030905020B02020C02" pitchFamily="82" charset="0"/>
              </a:rPr>
              <a:t>Statistical Validation</a:t>
            </a:r>
            <a:endParaRPr lang="en-IN" sz="4000" dirty="0">
              <a:solidFill>
                <a:srgbClr val="FF6F00"/>
              </a:solidFill>
              <a:latin typeface="Bauhaus 93" panose="04030905020B02020C02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1B7D7-F1D1-A6C4-2693-054BF723430E}"/>
              </a:ext>
            </a:extLst>
          </p:cNvPr>
          <p:cNvSpPr txBox="1"/>
          <p:nvPr/>
        </p:nvSpPr>
        <p:spPr>
          <a:xfrm>
            <a:off x="344232" y="936486"/>
            <a:ext cx="770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Statistical tests validate whether observed purchase differences are significant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5320AD-3B0D-CEF4-72FA-602AE31E64CD}"/>
              </a:ext>
            </a:extLst>
          </p:cNvPr>
          <p:cNvSpPr/>
          <p:nvPr/>
        </p:nvSpPr>
        <p:spPr>
          <a:xfrm>
            <a:off x="1281295" y="1479551"/>
            <a:ext cx="7619514" cy="45719"/>
          </a:xfrm>
          <a:prstGeom prst="rect">
            <a:avLst/>
          </a:prstGeom>
          <a:gradFill>
            <a:gsLst>
              <a:gs pos="64000">
                <a:srgbClr val="FF6F00"/>
              </a:gs>
              <a:gs pos="19000">
                <a:srgbClr val="D34817">
                  <a:lumMod val="40000"/>
                  <a:lumOff val="60000"/>
                </a:srgbClr>
              </a:gs>
            </a:gsLst>
            <a:lin ang="27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BF8E94-8BCA-3FCD-5C74-3CF278FDDE39}"/>
              </a:ext>
            </a:extLst>
          </p:cNvPr>
          <p:cNvSpPr/>
          <p:nvPr/>
        </p:nvSpPr>
        <p:spPr>
          <a:xfrm>
            <a:off x="7711607" y="1699004"/>
            <a:ext cx="4379874" cy="1545615"/>
          </a:xfrm>
          <a:prstGeom prst="roundRect">
            <a:avLst>
              <a:gd name="adj" fmla="val 5859"/>
            </a:avLst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BBFBB3-B419-938B-C69A-6395F51F7E1E}"/>
              </a:ext>
            </a:extLst>
          </p:cNvPr>
          <p:cNvSpPr txBox="1"/>
          <p:nvPr/>
        </p:nvSpPr>
        <p:spPr>
          <a:xfrm>
            <a:off x="8938506" y="1794254"/>
            <a:ext cx="192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DECISION RULES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70C641-C660-B146-1BE0-864772837BF2}"/>
              </a:ext>
            </a:extLst>
          </p:cNvPr>
          <p:cNvSpPr txBox="1"/>
          <p:nvPr/>
        </p:nvSpPr>
        <p:spPr>
          <a:xfrm>
            <a:off x="8463064" y="2337320"/>
            <a:ext cx="29953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P &lt; 0.05  -&gt;  Significant</a:t>
            </a:r>
          </a:p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P &gt; 0.05  -&gt;  </a:t>
            </a:r>
            <a:r>
              <a:rPr lang="en-US" sz="2000" b="1" dirty="0">
                <a:solidFill>
                  <a:schemeClr val="accent2"/>
                </a:solidFill>
              </a:rPr>
              <a:t>Not significant</a:t>
            </a:r>
            <a:endParaRPr lang="en-IN" sz="2000" b="1" dirty="0">
              <a:solidFill>
                <a:schemeClr val="accent2"/>
              </a:solidFill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1095085-9645-A15A-FBD0-7BF584B2B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18405"/>
              </p:ext>
            </p:extLst>
          </p:nvPr>
        </p:nvGraphicFramePr>
        <p:xfrm>
          <a:off x="301558" y="1731903"/>
          <a:ext cx="7042825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8565">
                  <a:extLst>
                    <a:ext uri="{9D8B030D-6E8A-4147-A177-3AD203B41FA5}">
                      <a16:colId xmlns:a16="http://schemas.microsoft.com/office/drawing/2014/main" val="479733043"/>
                    </a:ext>
                  </a:extLst>
                </a:gridCol>
                <a:gridCol w="1408565">
                  <a:extLst>
                    <a:ext uri="{9D8B030D-6E8A-4147-A177-3AD203B41FA5}">
                      <a16:colId xmlns:a16="http://schemas.microsoft.com/office/drawing/2014/main" val="1127696692"/>
                    </a:ext>
                  </a:extLst>
                </a:gridCol>
                <a:gridCol w="1408565">
                  <a:extLst>
                    <a:ext uri="{9D8B030D-6E8A-4147-A177-3AD203B41FA5}">
                      <a16:colId xmlns:a16="http://schemas.microsoft.com/office/drawing/2014/main" val="3291159531"/>
                    </a:ext>
                  </a:extLst>
                </a:gridCol>
                <a:gridCol w="1408565">
                  <a:extLst>
                    <a:ext uri="{9D8B030D-6E8A-4147-A177-3AD203B41FA5}">
                      <a16:colId xmlns:a16="http://schemas.microsoft.com/office/drawing/2014/main" val="868217271"/>
                    </a:ext>
                  </a:extLst>
                </a:gridCol>
                <a:gridCol w="1408565">
                  <a:extLst>
                    <a:ext uri="{9D8B030D-6E8A-4147-A177-3AD203B41FA5}">
                      <a16:colId xmlns:a16="http://schemas.microsoft.com/office/drawing/2014/main" val="2750706042"/>
                    </a:ext>
                  </a:extLst>
                </a:gridCol>
              </a:tblGrid>
              <a:tr h="4071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TEST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BUSINESS QUESTION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P  - VALUE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DECISION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971508"/>
                  </a:ext>
                </a:extLst>
              </a:tr>
              <a:tr h="4071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⚖</a:t>
                      </a:r>
                      <a:r>
                        <a:rPr lang="en-IN" dirty="0"/>
                        <a:t>   </a:t>
                      </a: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T-Test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Gender → Purchase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Significant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&lt;0.001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Reject H₀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151011"/>
                  </a:ext>
                </a:extLst>
              </a:tr>
              <a:tr h="4071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⚖</a:t>
                      </a:r>
                      <a:r>
                        <a:rPr lang="en-IN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IN" dirty="0"/>
                        <a:t>  </a:t>
                      </a: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T-Test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Marital Status → Purchase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2"/>
                          </a:solidFill>
                        </a:rPr>
                        <a:t>Not Significant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0.731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Fail to Reject H₀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099322"/>
                  </a:ext>
                </a:extLst>
              </a:tr>
              <a:tr h="4071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📊 </a:t>
                      </a: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ANOVA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Age → Purchase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Significant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&lt;0.001 (1.05 × 10⁻⁴⁹)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Reject H₀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649117"/>
                  </a:ext>
                </a:extLst>
              </a:tr>
              <a:tr h="4071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📊</a:t>
                      </a:r>
                      <a:r>
                        <a:rPr lang="en-IN" dirty="0"/>
                        <a:t> </a:t>
                      </a: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ANOVA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City → Purchase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Significant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&lt;0.001 (0.0)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Reject H₀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467407"/>
                  </a:ext>
                </a:extLst>
              </a:tr>
              <a:tr h="4071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📊 </a:t>
                      </a: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ANOVA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Occupation → Purchase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Significant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&lt;0.001 (0.0)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Reject H₀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681364"/>
                  </a:ext>
                </a:extLst>
              </a:tr>
              <a:tr h="4071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↗ </a:t>
                      </a: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  Correlation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City Tenure ↔ Purchase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Significant but Very Weak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&lt;0.001 (5.78 × 10⁻⁵)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Significant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380083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F71BE0A7-06BE-E3A5-78C7-5CB558D28185}"/>
              </a:ext>
            </a:extLst>
          </p:cNvPr>
          <p:cNvSpPr/>
          <p:nvPr/>
        </p:nvSpPr>
        <p:spPr>
          <a:xfrm>
            <a:off x="7711609" y="3429001"/>
            <a:ext cx="4379874" cy="1833664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A8713A-3F78-D3D7-62FD-A08781AD8505}"/>
              </a:ext>
            </a:extLst>
          </p:cNvPr>
          <p:cNvSpPr txBox="1"/>
          <p:nvPr/>
        </p:nvSpPr>
        <p:spPr>
          <a:xfrm>
            <a:off x="8653769" y="3473541"/>
            <a:ext cx="262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KEY VALIDATED FINDING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5546F-0A8C-C7D3-2DD8-EB97F5D50F84}"/>
              </a:ext>
            </a:extLst>
          </p:cNvPr>
          <p:cNvSpPr/>
          <p:nvPr/>
        </p:nvSpPr>
        <p:spPr>
          <a:xfrm>
            <a:off x="7711609" y="5524839"/>
            <a:ext cx="4379873" cy="1236264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601BD3-FAEC-A136-C2F1-78933591A992}"/>
              </a:ext>
            </a:extLst>
          </p:cNvPr>
          <p:cNvSpPr txBox="1"/>
          <p:nvPr/>
        </p:nvSpPr>
        <p:spPr>
          <a:xfrm>
            <a:off x="9181697" y="5507276"/>
            <a:ext cx="1439694" cy="368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CITY TENURE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7F5B30-07B8-D2EA-14DF-F23AC7369FCC}"/>
              </a:ext>
            </a:extLst>
          </p:cNvPr>
          <p:cNvSpPr txBox="1"/>
          <p:nvPr/>
        </p:nvSpPr>
        <p:spPr>
          <a:xfrm>
            <a:off x="7950744" y="5893080"/>
            <a:ext cx="40272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r = 0.0054</a:t>
            </a:r>
          </a:p>
          <a:p>
            <a:pPr algn="ctr"/>
            <a:r>
              <a:rPr lang="en-US" b="1" dirty="0">
                <a:solidFill>
                  <a:schemeClr val="accent2"/>
                </a:solidFill>
              </a:rPr>
              <a:t>Significant but very weak relationship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881B42-A9E5-2C64-E31B-213CBBF23E3F}"/>
              </a:ext>
            </a:extLst>
          </p:cNvPr>
          <p:cNvSpPr txBox="1"/>
          <p:nvPr/>
        </p:nvSpPr>
        <p:spPr>
          <a:xfrm>
            <a:off x="7899069" y="3991194"/>
            <a:ext cx="41232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Age, City Category &amp; Occupation significantly influence purchase amounts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261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/>
      <p:bldP spid="14" grpId="0"/>
      <p:bldP spid="16" grpId="0" animBg="1"/>
      <p:bldP spid="17" grpId="0"/>
      <p:bldP spid="18" grpId="0" animBg="1"/>
      <p:bldP spid="19" grpId="0"/>
      <p:bldP spid="20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7AE84A-DFA0-2CDB-C8F8-0A0B6AFCC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30FC50-56E8-2693-5B4D-6CB0BBBF134E}"/>
              </a:ext>
            </a:extLst>
          </p:cNvPr>
          <p:cNvSpPr txBox="1"/>
          <p:nvPr/>
        </p:nvSpPr>
        <p:spPr>
          <a:xfrm>
            <a:off x="344232" y="102140"/>
            <a:ext cx="7702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4000" dirty="0">
                <a:solidFill>
                  <a:srgbClr val="FF6F00"/>
                </a:solidFill>
                <a:latin typeface="Bauhaus 93" panose="04030905020B02020C02" pitchFamily="82" charset="0"/>
              </a:rPr>
              <a:t>Strategic Recommendation</a:t>
            </a:r>
            <a:endParaRPr lang="en-IN" sz="4000" dirty="0">
              <a:solidFill>
                <a:srgbClr val="FF6F00"/>
              </a:solidFill>
              <a:latin typeface="Bauhaus 93" panose="04030905020B02020C02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CB2FC4-B183-CC9E-C02B-28AD71C541FC}"/>
              </a:ext>
            </a:extLst>
          </p:cNvPr>
          <p:cNvSpPr txBox="1"/>
          <p:nvPr/>
        </p:nvSpPr>
        <p:spPr>
          <a:xfrm>
            <a:off x="344231" y="727500"/>
            <a:ext cx="8420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Turning customer, geographic and product insights into actionable business strategies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217DFB-3FF5-D16B-F705-21E3C4ABF7CF}"/>
              </a:ext>
            </a:extLst>
          </p:cNvPr>
          <p:cNvSpPr/>
          <p:nvPr/>
        </p:nvSpPr>
        <p:spPr>
          <a:xfrm>
            <a:off x="1281295" y="1236359"/>
            <a:ext cx="8164262" cy="45719"/>
          </a:xfrm>
          <a:prstGeom prst="rect">
            <a:avLst/>
          </a:prstGeom>
          <a:gradFill>
            <a:gsLst>
              <a:gs pos="64000">
                <a:srgbClr val="FF6F00"/>
              </a:gs>
              <a:gs pos="19000">
                <a:srgbClr val="D34817">
                  <a:lumMod val="40000"/>
                  <a:lumOff val="60000"/>
                </a:srgbClr>
              </a:gs>
            </a:gsLst>
            <a:lin ang="27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328E976-E207-375D-301A-09CF323F38DE}"/>
              </a:ext>
            </a:extLst>
          </p:cNvPr>
          <p:cNvGrpSpPr/>
          <p:nvPr/>
        </p:nvGrpSpPr>
        <p:grpSpPr>
          <a:xfrm>
            <a:off x="6477" y="1537526"/>
            <a:ext cx="3036366" cy="5229038"/>
            <a:chOff x="6477" y="1537526"/>
            <a:chExt cx="3036366" cy="522903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97A336D-2DDD-F4EE-7420-6E1AB86858F1}"/>
                </a:ext>
              </a:extLst>
            </p:cNvPr>
            <p:cNvGrpSpPr/>
            <p:nvPr/>
          </p:nvGrpSpPr>
          <p:grpSpPr>
            <a:xfrm>
              <a:off x="50259" y="1615604"/>
              <a:ext cx="2902605" cy="5150960"/>
              <a:chOff x="344230" y="1645493"/>
              <a:chExt cx="3420374" cy="5110367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10" name="Rectangle: Top Corners Rounded 9">
                <a:extLst>
                  <a:ext uri="{FF2B5EF4-FFF2-40B4-BE49-F238E27FC236}">
                    <a16:creationId xmlns:a16="http://schemas.microsoft.com/office/drawing/2014/main" id="{FB7B6FD7-12A9-3ABD-83A0-0E6CEC3713BE}"/>
                  </a:ext>
                </a:extLst>
              </p:cNvPr>
              <p:cNvSpPr/>
              <p:nvPr/>
            </p:nvSpPr>
            <p:spPr>
              <a:xfrm>
                <a:off x="344231" y="1679966"/>
                <a:ext cx="3420373" cy="5075894"/>
              </a:xfrm>
              <a:prstGeom prst="round2SameRect">
                <a:avLst>
                  <a:gd name="adj1" fmla="val 8135"/>
                  <a:gd name="adj2" fmla="val 50000"/>
                </a:avLst>
              </a:prstGeom>
              <a:grpFill/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4534745-43F9-C285-D313-FF4388BFE425}"/>
                  </a:ext>
                </a:extLst>
              </p:cNvPr>
              <p:cNvSpPr/>
              <p:nvPr/>
            </p:nvSpPr>
            <p:spPr>
              <a:xfrm>
                <a:off x="344230" y="1645493"/>
                <a:ext cx="3420373" cy="2239300"/>
              </a:xfrm>
              <a:custGeom>
                <a:avLst/>
                <a:gdLst>
                  <a:gd name="csX0" fmla="*/ 278247 w 3420373"/>
                  <a:gd name="csY0" fmla="*/ 0 h 2239300"/>
                  <a:gd name="csX1" fmla="*/ 3142126 w 3420373"/>
                  <a:gd name="csY1" fmla="*/ 0 h 2239300"/>
                  <a:gd name="csX2" fmla="*/ 3420373 w 3420373"/>
                  <a:gd name="csY2" fmla="*/ 278247 h 2239300"/>
                  <a:gd name="csX3" fmla="*/ 3420373 w 3420373"/>
                  <a:gd name="csY3" fmla="*/ 838471 h 2239300"/>
                  <a:gd name="csX4" fmla="*/ 1400829 w 3420373"/>
                  <a:gd name="csY4" fmla="*/ 838471 h 2239300"/>
                  <a:gd name="csX5" fmla="*/ 0 w 3420373"/>
                  <a:gd name="csY5" fmla="*/ 2239300 h 2239300"/>
                  <a:gd name="csX6" fmla="*/ 0 w 3420373"/>
                  <a:gd name="csY6" fmla="*/ 278247 h 2239300"/>
                  <a:gd name="csX7" fmla="*/ 278247 w 3420373"/>
                  <a:gd name="csY7" fmla="*/ 0 h 22393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3420373" h="2239300">
                    <a:moveTo>
                      <a:pt x="278247" y="0"/>
                    </a:moveTo>
                    <a:lnTo>
                      <a:pt x="3142126" y="0"/>
                    </a:lnTo>
                    <a:cubicBezTo>
                      <a:pt x="3295798" y="0"/>
                      <a:pt x="3420373" y="124575"/>
                      <a:pt x="3420373" y="278247"/>
                    </a:cubicBezTo>
                    <a:lnTo>
                      <a:pt x="3420373" y="838471"/>
                    </a:lnTo>
                    <a:lnTo>
                      <a:pt x="1400829" y="838471"/>
                    </a:lnTo>
                    <a:cubicBezTo>
                      <a:pt x="627173" y="838471"/>
                      <a:pt x="0" y="1465644"/>
                      <a:pt x="0" y="2239300"/>
                    </a:cubicBezTo>
                    <a:lnTo>
                      <a:pt x="0" y="278247"/>
                    </a:lnTo>
                    <a:cubicBezTo>
                      <a:pt x="0" y="124575"/>
                      <a:pt x="124575" y="0"/>
                      <a:pt x="27824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schemeClr val="accent6">
                    <a:lumMod val="75000"/>
                    <a:alpha val="40000"/>
                  </a:scheme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D7927BC-EB29-1BE6-8C13-BD7E23B34508}"/>
                </a:ext>
              </a:extLst>
            </p:cNvPr>
            <p:cNvSpPr txBox="1"/>
            <p:nvPr/>
          </p:nvSpPr>
          <p:spPr>
            <a:xfrm>
              <a:off x="2015322" y="1537526"/>
              <a:ext cx="102752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01</a:t>
              </a:r>
              <a:endParaRPr lang="en-IN" sz="54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A79479C-3F43-E8B2-FB47-4CCAA73E4C5D}"/>
                </a:ext>
              </a:extLst>
            </p:cNvPr>
            <p:cNvSpPr txBox="1"/>
            <p:nvPr/>
          </p:nvSpPr>
          <p:spPr>
            <a:xfrm>
              <a:off x="6477" y="1615604"/>
              <a:ext cx="17314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ontserrat ExtraBold" pitchFamily="2" charset="0"/>
                </a:rPr>
                <a:t>CUSTOMER</a:t>
              </a:r>
              <a:endParaRPr lang="en-IN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itchFamily="2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E4F5A38-D034-9E5C-8218-32E77E3E227D}"/>
              </a:ext>
            </a:extLst>
          </p:cNvPr>
          <p:cNvGrpSpPr/>
          <p:nvPr/>
        </p:nvGrpSpPr>
        <p:grpSpPr>
          <a:xfrm>
            <a:off x="3078616" y="1537526"/>
            <a:ext cx="3017089" cy="5229038"/>
            <a:chOff x="3078616" y="1537526"/>
            <a:chExt cx="3017089" cy="522903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F796E17-DBD3-DB79-82E7-1500197A7B6C}"/>
                </a:ext>
              </a:extLst>
            </p:cNvPr>
            <p:cNvGrpSpPr/>
            <p:nvPr/>
          </p:nvGrpSpPr>
          <p:grpSpPr>
            <a:xfrm>
              <a:off x="3103122" y="1615604"/>
              <a:ext cx="2902604" cy="5150960"/>
              <a:chOff x="344230" y="1645493"/>
              <a:chExt cx="3420374" cy="5110367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19" name="Rectangle: Top Corners Rounded 18">
                <a:extLst>
                  <a:ext uri="{FF2B5EF4-FFF2-40B4-BE49-F238E27FC236}">
                    <a16:creationId xmlns:a16="http://schemas.microsoft.com/office/drawing/2014/main" id="{4AEA4D82-9F3B-F11F-7386-D2AD556B3C0D}"/>
                  </a:ext>
                </a:extLst>
              </p:cNvPr>
              <p:cNvSpPr/>
              <p:nvPr/>
            </p:nvSpPr>
            <p:spPr>
              <a:xfrm>
                <a:off x="344231" y="1679966"/>
                <a:ext cx="3420373" cy="5075894"/>
              </a:xfrm>
              <a:prstGeom prst="round2SameRect">
                <a:avLst>
                  <a:gd name="adj1" fmla="val 8135"/>
                  <a:gd name="adj2" fmla="val 50000"/>
                </a:avLst>
              </a:prstGeom>
              <a:grpFill/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F7F021F-F7F6-0428-A7E9-6DC3E91055DF}"/>
                  </a:ext>
                </a:extLst>
              </p:cNvPr>
              <p:cNvSpPr/>
              <p:nvPr/>
            </p:nvSpPr>
            <p:spPr>
              <a:xfrm>
                <a:off x="344230" y="1645493"/>
                <a:ext cx="3420373" cy="2239300"/>
              </a:xfrm>
              <a:custGeom>
                <a:avLst/>
                <a:gdLst>
                  <a:gd name="csX0" fmla="*/ 278247 w 3420373"/>
                  <a:gd name="csY0" fmla="*/ 0 h 2239300"/>
                  <a:gd name="csX1" fmla="*/ 3142126 w 3420373"/>
                  <a:gd name="csY1" fmla="*/ 0 h 2239300"/>
                  <a:gd name="csX2" fmla="*/ 3420373 w 3420373"/>
                  <a:gd name="csY2" fmla="*/ 278247 h 2239300"/>
                  <a:gd name="csX3" fmla="*/ 3420373 w 3420373"/>
                  <a:gd name="csY3" fmla="*/ 838471 h 2239300"/>
                  <a:gd name="csX4" fmla="*/ 1400829 w 3420373"/>
                  <a:gd name="csY4" fmla="*/ 838471 h 2239300"/>
                  <a:gd name="csX5" fmla="*/ 0 w 3420373"/>
                  <a:gd name="csY5" fmla="*/ 2239300 h 2239300"/>
                  <a:gd name="csX6" fmla="*/ 0 w 3420373"/>
                  <a:gd name="csY6" fmla="*/ 278247 h 2239300"/>
                  <a:gd name="csX7" fmla="*/ 278247 w 3420373"/>
                  <a:gd name="csY7" fmla="*/ 0 h 22393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3420373" h="2239300">
                    <a:moveTo>
                      <a:pt x="278247" y="0"/>
                    </a:moveTo>
                    <a:lnTo>
                      <a:pt x="3142126" y="0"/>
                    </a:lnTo>
                    <a:cubicBezTo>
                      <a:pt x="3295798" y="0"/>
                      <a:pt x="3420373" y="124575"/>
                      <a:pt x="3420373" y="278247"/>
                    </a:cubicBezTo>
                    <a:lnTo>
                      <a:pt x="3420373" y="838471"/>
                    </a:lnTo>
                    <a:lnTo>
                      <a:pt x="1400829" y="838471"/>
                    </a:lnTo>
                    <a:cubicBezTo>
                      <a:pt x="627173" y="838471"/>
                      <a:pt x="0" y="1465644"/>
                      <a:pt x="0" y="2239300"/>
                    </a:cubicBezTo>
                    <a:lnTo>
                      <a:pt x="0" y="278247"/>
                    </a:lnTo>
                    <a:cubicBezTo>
                      <a:pt x="0" y="124575"/>
                      <a:pt x="124575" y="0"/>
                      <a:pt x="2782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0800" dist="38100" dir="2700000" algn="tl" rotWithShape="0">
                  <a:schemeClr val="accent2">
                    <a:alpha val="40000"/>
                  </a:scheme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9953480-078B-4E6A-911E-3ABDB5C3F8E1}"/>
                </a:ext>
              </a:extLst>
            </p:cNvPr>
            <p:cNvSpPr txBox="1"/>
            <p:nvPr/>
          </p:nvSpPr>
          <p:spPr>
            <a:xfrm>
              <a:off x="5068184" y="1537526"/>
              <a:ext cx="102752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02</a:t>
              </a:r>
              <a:endParaRPr lang="en-IN" sz="54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CF1FD4C-8F73-545F-931B-ED4F8B6944ED}"/>
                </a:ext>
              </a:extLst>
            </p:cNvPr>
            <p:cNvSpPr txBox="1"/>
            <p:nvPr/>
          </p:nvSpPr>
          <p:spPr>
            <a:xfrm>
              <a:off x="3078616" y="1615604"/>
              <a:ext cx="18995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ontserrat ExtraBold" pitchFamily="2" charset="0"/>
                </a:rPr>
                <a:t>GEOGRAPHIC</a:t>
              </a:r>
              <a:endParaRPr lang="en-IN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itchFamily="2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AE0EA62-EC95-6EF8-8986-3D6A21A7D288}"/>
              </a:ext>
            </a:extLst>
          </p:cNvPr>
          <p:cNvGrpSpPr/>
          <p:nvPr/>
        </p:nvGrpSpPr>
        <p:grpSpPr>
          <a:xfrm>
            <a:off x="6137840" y="1537526"/>
            <a:ext cx="3024292" cy="5229038"/>
            <a:chOff x="6137840" y="1537526"/>
            <a:chExt cx="3024292" cy="5229038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AC7B537-F6CF-91AF-6838-80F7506B59DB}"/>
                </a:ext>
              </a:extLst>
            </p:cNvPr>
            <p:cNvGrpSpPr/>
            <p:nvPr/>
          </p:nvGrpSpPr>
          <p:grpSpPr>
            <a:xfrm>
              <a:off x="6155984" y="1615604"/>
              <a:ext cx="2902603" cy="5150960"/>
              <a:chOff x="344230" y="1645493"/>
              <a:chExt cx="3420374" cy="5110367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2" name="Rectangle: Top Corners Rounded 21">
                <a:extLst>
                  <a:ext uri="{FF2B5EF4-FFF2-40B4-BE49-F238E27FC236}">
                    <a16:creationId xmlns:a16="http://schemas.microsoft.com/office/drawing/2014/main" id="{64DF8C66-5EF1-EFD6-6EFB-AE914BB45B3F}"/>
                  </a:ext>
                </a:extLst>
              </p:cNvPr>
              <p:cNvSpPr/>
              <p:nvPr/>
            </p:nvSpPr>
            <p:spPr>
              <a:xfrm>
                <a:off x="344231" y="1679966"/>
                <a:ext cx="3420373" cy="5075894"/>
              </a:xfrm>
              <a:prstGeom prst="round2SameRect">
                <a:avLst>
                  <a:gd name="adj1" fmla="val 8135"/>
                  <a:gd name="adj2" fmla="val 50000"/>
                </a:avLst>
              </a:prstGeom>
              <a:grpFill/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1BA5CF6-EF37-4C64-C70B-B3D79906D6AB}"/>
                  </a:ext>
                </a:extLst>
              </p:cNvPr>
              <p:cNvSpPr/>
              <p:nvPr/>
            </p:nvSpPr>
            <p:spPr>
              <a:xfrm>
                <a:off x="344230" y="1645493"/>
                <a:ext cx="3420373" cy="2239300"/>
              </a:xfrm>
              <a:custGeom>
                <a:avLst/>
                <a:gdLst>
                  <a:gd name="csX0" fmla="*/ 278247 w 3420373"/>
                  <a:gd name="csY0" fmla="*/ 0 h 2239300"/>
                  <a:gd name="csX1" fmla="*/ 3142126 w 3420373"/>
                  <a:gd name="csY1" fmla="*/ 0 h 2239300"/>
                  <a:gd name="csX2" fmla="*/ 3420373 w 3420373"/>
                  <a:gd name="csY2" fmla="*/ 278247 h 2239300"/>
                  <a:gd name="csX3" fmla="*/ 3420373 w 3420373"/>
                  <a:gd name="csY3" fmla="*/ 838471 h 2239300"/>
                  <a:gd name="csX4" fmla="*/ 1400829 w 3420373"/>
                  <a:gd name="csY4" fmla="*/ 838471 h 2239300"/>
                  <a:gd name="csX5" fmla="*/ 0 w 3420373"/>
                  <a:gd name="csY5" fmla="*/ 2239300 h 2239300"/>
                  <a:gd name="csX6" fmla="*/ 0 w 3420373"/>
                  <a:gd name="csY6" fmla="*/ 278247 h 2239300"/>
                  <a:gd name="csX7" fmla="*/ 278247 w 3420373"/>
                  <a:gd name="csY7" fmla="*/ 0 h 22393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3420373" h="2239300">
                    <a:moveTo>
                      <a:pt x="278247" y="0"/>
                    </a:moveTo>
                    <a:lnTo>
                      <a:pt x="3142126" y="0"/>
                    </a:lnTo>
                    <a:cubicBezTo>
                      <a:pt x="3295798" y="0"/>
                      <a:pt x="3420373" y="124575"/>
                      <a:pt x="3420373" y="278247"/>
                    </a:cubicBezTo>
                    <a:lnTo>
                      <a:pt x="3420373" y="838471"/>
                    </a:lnTo>
                    <a:lnTo>
                      <a:pt x="1400829" y="838471"/>
                    </a:lnTo>
                    <a:cubicBezTo>
                      <a:pt x="627173" y="838471"/>
                      <a:pt x="0" y="1465644"/>
                      <a:pt x="0" y="2239300"/>
                    </a:cubicBezTo>
                    <a:lnTo>
                      <a:pt x="0" y="278247"/>
                    </a:lnTo>
                    <a:cubicBezTo>
                      <a:pt x="0" y="124575"/>
                      <a:pt x="124575" y="0"/>
                      <a:pt x="27824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0800" dist="38100" dir="5400000" algn="t" rotWithShape="0">
                  <a:schemeClr val="accent3">
                    <a:alpha val="40000"/>
                  </a:scheme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B5C304A-6604-ECAE-C197-266ADF4F8AB6}"/>
                </a:ext>
              </a:extLst>
            </p:cNvPr>
            <p:cNvSpPr txBox="1"/>
            <p:nvPr/>
          </p:nvSpPr>
          <p:spPr>
            <a:xfrm>
              <a:off x="8134611" y="1537526"/>
              <a:ext cx="102752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03</a:t>
              </a:r>
              <a:endParaRPr lang="en-IN" sz="54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88FA500-C946-46D7-6872-AA22ECBDFB6E}"/>
                </a:ext>
              </a:extLst>
            </p:cNvPr>
            <p:cNvSpPr txBox="1"/>
            <p:nvPr/>
          </p:nvSpPr>
          <p:spPr>
            <a:xfrm>
              <a:off x="6137840" y="1615604"/>
              <a:ext cx="17314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ontserrat ExtraBold" pitchFamily="2" charset="0"/>
                </a:rPr>
                <a:t>PRODUCT</a:t>
              </a:r>
              <a:endParaRPr lang="en-IN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itchFamily="2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ED46705-EF25-8D01-C157-3A9276F5EB14}"/>
              </a:ext>
            </a:extLst>
          </p:cNvPr>
          <p:cNvGrpSpPr/>
          <p:nvPr/>
        </p:nvGrpSpPr>
        <p:grpSpPr>
          <a:xfrm>
            <a:off x="9208844" y="1537526"/>
            <a:ext cx="2932896" cy="5229038"/>
            <a:chOff x="9208844" y="1537526"/>
            <a:chExt cx="2932896" cy="522903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A0F7E5E-2729-CD05-6DF2-7C98E511513D}"/>
                </a:ext>
              </a:extLst>
            </p:cNvPr>
            <p:cNvGrpSpPr/>
            <p:nvPr/>
          </p:nvGrpSpPr>
          <p:grpSpPr>
            <a:xfrm>
              <a:off x="9208845" y="1615604"/>
              <a:ext cx="2860324" cy="5150960"/>
              <a:chOff x="344230" y="1645493"/>
              <a:chExt cx="3420374" cy="5110367"/>
            </a:xfrm>
          </p:grpSpPr>
          <p:sp>
            <p:nvSpPr>
              <p:cNvPr id="25" name="Rectangle: Top Corners Rounded 24">
                <a:extLst>
                  <a:ext uri="{FF2B5EF4-FFF2-40B4-BE49-F238E27FC236}">
                    <a16:creationId xmlns:a16="http://schemas.microsoft.com/office/drawing/2014/main" id="{8331255F-3D1F-1350-7486-B36DF4359071}"/>
                  </a:ext>
                </a:extLst>
              </p:cNvPr>
              <p:cNvSpPr/>
              <p:nvPr/>
            </p:nvSpPr>
            <p:spPr>
              <a:xfrm>
                <a:off x="344231" y="1679966"/>
                <a:ext cx="3420373" cy="5075894"/>
              </a:xfrm>
              <a:prstGeom prst="round2SameRect">
                <a:avLst>
                  <a:gd name="adj1" fmla="val 8135"/>
                  <a:gd name="adj2" fmla="val 5000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FD277D0-9873-6690-A129-8E3F4FC731FA}"/>
                  </a:ext>
                </a:extLst>
              </p:cNvPr>
              <p:cNvSpPr/>
              <p:nvPr/>
            </p:nvSpPr>
            <p:spPr>
              <a:xfrm>
                <a:off x="344230" y="1645493"/>
                <a:ext cx="3420373" cy="2239300"/>
              </a:xfrm>
              <a:custGeom>
                <a:avLst/>
                <a:gdLst>
                  <a:gd name="csX0" fmla="*/ 278247 w 3420373"/>
                  <a:gd name="csY0" fmla="*/ 0 h 2239300"/>
                  <a:gd name="csX1" fmla="*/ 3142126 w 3420373"/>
                  <a:gd name="csY1" fmla="*/ 0 h 2239300"/>
                  <a:gd name="csX2" fmla="*/ 3420373 w 3420373"/>
                  <a:gd name="csY2" fmla="*/ 278247 h 2239300"/>
                  <a:gd name="csX3" fmla="*/ 3420373 w 3420373"/>
                  <a:gd name="csY3" fmla="*/ 838471 h 2239300"/>
                  <a:gd name="csX4" fmla="*/ 1400829 w 3420373"/>
                  <a:gd name="csY4" fmla="*/ 838471 h 2239300"/>
                  <a:gd name="csX5" fmla="*/ 0 w 3420373"/>
                  <a:gd name="csY5" fmla="*/ 2239300 h 2239300"/>
                  <a:gd name="csX6" fmla="*/ 0 w 3420373"/>
                  <a:gd name="csY6" fmla="*/ 278247 h 2239300"/>
                  <a:gd name="csX7" fmla="*/ 278247 w 3420373"/>
                  <a:gd name="csY7" fmla="*/ 0 h 22393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3420373" h="2239300">
                    <a:moveTo>
                      <a:pt x="278247" y="0"/>
                    </a:moveTo>
                    <a:lnTo>
                      <a:pt x="3142126" y="0"/>
                    </a:lnTo>
                    <a:cubicBezTo>
                      <a:pt x="3295798" y="0"/>
                      <a:pt x="3420373" y="124575"/>
                      <a:pt x="3420373" y="278247"/>
                    </a:cubicBezTo>
                    <a:lnTo>
                      <a:pt x="3420373" y="838471"/>
                    </a:lnTo>
                    <a:lnTo>
                      <a:pt x="1400829" y="838471"/>
                    </a:lnTo>
                    <a:cubicBezTo>
                      <a:pt x="627173" y="838471"/>
                      <a:pt x="0" y="1465644"/>
                      <a:pt x="0" y="2239300"/>
                    </a:cubicBezTo>
                    <a:lnTo>
                      <a:pt x="0" y="278247"/>
                    </a:lnTo>
                    <a:cubicBezTo>
                      <a:pt x="0" y="124575"/>
                      <a:pt x="124575" y="0"/>
                      <a:pt x="27824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5400000" algn="t" rotWithShape="0">
                  <a:schemeClr val="accent4">
                    <a:alpha val="40000"/>
                  </a:scheme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E20227E-B323-5D22-3BBF-E141CD3EE5A5}"/>
                </a:ext>
              </a:extLst>
            </p:cNvPr>
            <p:cNvSpPr txBox="1"/>
            <p:nvPr/>
          </p:nvSpPr>
          <p:spPr>
            <a:xfrm>
              <a:off x="11114219" y="1537526"/>
              <a:ext cx="102752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04</a:t>
              </a:r>
              <a:endParaRPr lang="en-IN" sz="54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3170A7E-737F-A546-A9C0-AD91964368F8}"/>
                </a:ext>
              </a:extLst>
            </p:cNvPr>
            <p:cNvSpPr txBox="1"/>
            <p:nvPr/>
          </p:nvSpPr>
          <p:spPr>
            <a:xfrm>
              <a:off x="9208844" y="1615604"/>
              <a:ext cx="17314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ontserrat ExtraBold" pitchFamily="2" charset="0"/>
                </a:rPr>
                <a:t>MARKETING</a:t>
              </a:r>
              <a:endParaRPr lang="en-IN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itchFamily="2" charset="0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ADB026EB-336F-DE6A-9E8F-653FA6AC9E78}"/>
              </a:ext>
            </a:extLst>
          </p:cNvPr>
          <p:cNvSpPr txBox="1"/>
          <p:nvPr/>
        </p:nvSpPr>
        <p:spPr>
          <a:xfrm>
            <a:off x="607012" y="2473441"/>
            <a:ext cx="23639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chemeClr val="bg1">
                    <a:lumMod val="75000"/>
                  </a:schemeClr>
                </a:solidFill>
              </a:rPr>
              <a:t>“Focus on customers aged 26–35 and strengthen engagement with high-value buyers.”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58E643-D920-540D-DD02-3C233FA38CFB}"/>
              </a:ext>
            </a:extLst>
          </p:cNvPr>
          <p:cNvSpPr txBox="1"/>
          <p:nvPr/>
        </p:nvSpPr>
        <p:spPr>
          <a:xfrm>
            <a:off x="160965" y="3600540"/>
            <a:ext cx="26395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26–35 Age Group → Highest Sales → $2.0B</a:t>
            </a:r>
            <a:br>
              <a:rPr lang="en-IN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Purchase Frequency → 107.0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E1C3E46-2176-B226-4149-C92F401F369C}"/>
              </a:ext>
            </a:extLst>
          </p:cNvPr>
          <p:cNvSpPr/>
          <p:nvPr/>
        </p:nvSpPr>
        <p:spPr>
          <a:xfrm flipV="1">
            <a:off x="266851" y="3426153"/>
            <a:ext cx="2533619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718E22E-A7DA-D326-1E18-23F7491FEF09}"/>
              </a:ext>
            </a:extLst>
          </p:cNvPr>
          <p:cNvSpPr/>
          <p:nvPr/>
        </p:nvSpPr>
        <p:spPr>
          <a:xfrm>
            <a:off x="261396" y="4850628"/>
            <a:ext cx="2539074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BF0F32-B4DA-B7BB-6FCC-CC57EC7BDB78}"/>
              </a:ext>
            </a:extLst>
          </p:cNvPr>
          <p:cNvSpPr txBox="1"/>
          <p:nvPr/>
        </p:nvSpPr>
        <p:spPr>
          <a:xfrm>
            <a:off x="160965" y="4913694"/>
            <a:ext cx="28588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ACTION : </a:t>
            </a:r>
            <a:r>
              <a:rPr lang="en-IN" sz="1400" dirty="0">
                <a:solidFill>
                  <a:schemeClr val="bg1">
                    <a:lumMod val="95000"/>
                  </a:schemeClr>
                </a:solidFill>
                <a:latin typeface="Montserrat SemiBold" pitchFamily="2" charset="0"/>
              </a:rPr>
              <a:t>Use personalized offers, loyalty rewards and targeted campaigns for the strongest customer segment.</a:t>
            </a:r>
            <a:r>
              <a:rPr lang="en-IN" sz="1400" dirty="0"/>
              <a:t>..</a:t>
            </a:r>
            <a:endParaRPr lang="en-IN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4E5019-1722-3790-B8E6-EE5EF26EC651}"/>
              </a:ext>
            </a:extLst>
          </p:cNvPr>
          <p:cNvSpPr txBox="1"/>
          <p:nvPr/>
        </p:nvSpPr>
        <p:spPr>
          <a:xfrm>
            <a:off x="3731709" y="2475930"/>
            <a:ext cx="23639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chemeClr val="bg1">
                    <a:lumMod val="75000"/>
                  </a:schemeClr>
                </a:solidFill>
              </a:rPr>
              <a:t>“Develop location-specific campaigns and inventory strategies based on city performance.”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A9A158D-5F32-E02D-01DD-8209BBF7D081}"/>
              </a:ext>
            </a:extLst>
          </p:cNvPr>
          <p:cNvSpPr/>
          <p:nvPr/>
        </p:nvSpPr>
        <p:spPr>
          <a:xfrm>
            <a:off x="3327662" y="3445112"/>
            <a:ext cx="254915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D02316B-BB75-4EB4-A4EE-7EA66787252E}"/>
              </a:ext>
            </a:extLst>
          </p:cNvPr>
          <p:cNvGrpSpPr/>
          <p:nvPr/>
        </p:nvGrpSpPr>
        <p:grpSpPr>
          <a:xfrm>
            <a:off x="3253819" y="3608292"/>
            <a:ext cx="2639505" cy="1107996"/>
            <a:chOff x="3253819" y="3608292"/>
            <a:chExt cx="2639505" cy="1107996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ADCC1E7-A701-E05C-7F29-E1FC574F91A1}"/>
                </a:ext>
              </a:extLst>
            </p:cNvPr>
            <p:cNvSpPr txBox="1"/>
            <p:nvPr/>
          </p:nvSpPr>
          <p:spPr>
            <a:xfrm>
              <a:off x="3253819" y="3608292"/>
              <a:ext cx="263950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>
                  <a:solidFill>
                    <a:schemeClr val="accent2"/>
                  </a:solidFill>
                </a:rPr>
                <a:t>City B → 41.5% of Total Sales</a:t>
              </a:r>
            </a:p>
            <a:p>
              <a:r>
                <a:rPr lang="en-IN" sz="1600" b="1" dirty="0">
                  <a:solidFill>
                    <a:schemeClr val="accent2"/>
                  </a:solidFill>
                </a:rPr>
                <a:t>City A → $8.91K</a:t>
              </a:r>
              <a:br>
                <a:rPr lang="en-IN" sz="1600" dirty="0">
                  <a:solidFill>
                    <a:schemeClr val="accent2"/>
                  </a:solidFill>
                </a:rPr>
              </a:br>
              <a:r>
                <a:rPr lang="en-IN" sz="1600" b="1" dirty="0">
                  <a:solidFill>
                    <a:schemeClr val="accent2"/>
                  </a:solidFill>
                </a:rPr>
                <a:t>City B → $9.15K      </a:t>
              </a:r>
              <a:r>
                <a:rPr lang="en-IN" sz="1100" b="1" dirty="0">
                  <a:solidFill>
                    <a:schemeClr val="accent2"/>
                  </a:solidFill>
                </a:rPr>
                <a:t> Avg Purchase</a:t>
              </a:r>
              <a:br>
                <a:rPr lang="en-IN" sz="1600" dirty="0">
                  <a:solidFill>
                    <a:schemeClr val="accent2"/>
                  </a:solidFill>
                </a:rPr>
              </a:br>
              <a:r>
                <a:rPr lang="en-IN" sz="1600" b="1" dirty="0">
                  <a:solidFill>
                    <a:schemeClr val="accent2"/>
                  </a:solidFill>
                </a:rPr>
                <a:t>City C → $9.72K</a:t>
              </a:r>
              <a:endParaRPr lang="en-IN" sz="1600" dirty="0">
                <a:solidFill>
                  <a:schemeClr val="accent2"/>
                </a:solidFill>
              </a:endParaRPr>
            </a:p>
          </p:txBody>
        </p:sp>
        <p:sp>
          <p:nvSpPr>
            <p:cNvPr id="57" name="Right Brace 56">
              <a:extLst>
                <a:ext uri="{FF2B5EF4-FFF2-40B4-BE49-F238E27FC236}">
                  <a16:creationId xmlns:a16="http://schemas.microsoft.com/office/drawing/2014/main" id="{BC32DE28-B119-EF60-DF23-50B83E31CCF6}"/>
                </a:ext>
              </a:extLst>
            </p:cNvPr>
            <p:cNvSpPr/>
            <p:nvPr/>
          </p:nvSpPr>
          <p:spPr>
            <a:xfrm>
              <a:off x="4736542" y="3950769"/>
              <a:ext cx="161107" cy="641023"/>
            </a:xfrm>
            <a:prstGeom prst="rightBrace">
              <a:avLst>
                <a:gd name="adj1" fmla="val 38368"/>
                <a:gd name="adj2" fmla="val 48969"/>
              </a:avLst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50F743F8-6276-485A-7977-5A3D8A576674}"/>
              </a:ext>
            </a:extLst>
          </p:cNvPr>
          <p:cNvSpPr/>
          <p:nvPr/>
        </p:nvSpPr>
        <p:spPr>
          <a:xfrm>
            <a:off x="3327662" y="4833038"/>
            <a:ext cx="254915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3CD7EA8-9069-D7CE-55A1-8B6D11BB4DA5}"/>
              </a:ext>
            </a:extLst>
          </p:cNvPr>
          <p:cNvSpPr txBox="1"/>
          <p:nvPr/>
        </p:nvSpPr>
        <p:spPr>
          <a:xfrm>
            <a:off x="3170042" y="4913694"/>
            <a:ext cx="28588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ACTION : </a:t>
            </a:r>
            <a:r>
              <a:rPr lang="en-IN" sz="1400" dirty="0">
                <a:solidFill>
                  <a:schemeClr val="bg1">
                    <a:lumMod val="95000"/>
                  </a:schemeClr>
                </a:solidFill>
                <a:latin typeface="Montserrat SemiBold" pitchFamily="2" charset="0"/>
              </a:rPr>
              <a:t>Protect City B's strong revenue contribution while exploring premium-value opportunities in City C.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1632430-16C7-647A-FAAE-84A1F7B61252}"/>
              </a:ext>
            </a:extLst>
          </p:cNvPr>
          <p:cNvSpPr txBox="1"/>
          <p:nvPr/>
        </p:nvSpPr>
        <p:spPr>
          <a:xfrm>
            <a:off x="6531292" y="2475930"/>
            <a:ext cx="26438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chemeClr val="bg1">
                    <a:lumMod val="75000"/>
                  </a:schemeClr>
                </a:solidFill>
              </a:rPr>
              <a:t>“Allocate inventory, promotions and visibility toward the categories generating the highest revenue.”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8B661AC-9CF1-5414-8B23-63DD5FE7A216}"/>
              </a:ext>
            </a:extLst>
          </p:cNvPr>
          <p:cNvSpPr/>
          <p:nvPr/>
        </p:nvSpPr>
        <p:spPr>
          <a:xfrm>
            <a:off x="6324455" y="3447921"/>
            <a:ext cx="2549150" cy="6019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A3A53EE-4FB6-0493-2CFB-FC6C922AFE11}"/>
              </a:ext>
            </a:extLst>
          </p:cNvPr>
          <p:cNvSpPr txBox="1"/>
          <p:nvPr/>
        </p:nvSpPr>
        <p:spPr>
          <a:xfrm>
            <a:off x="6328802" y="3594676"/>
            <a:ext cx="26395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3"/>
                </a:solidFill>
              </a:rPr>
              <a:t>Top Category → $1.91B(1)</a:t>
            </a:r>
          </a:p>
          <a:p>
            <a:r>
              <a:rPr lang="en-IN" b="1" dirty="0">
                <a:solidFill>
                  <a:schemeClr val="accent3"/>
                </a:solidFill>
              </a:rPr>
              <a:t>Next Categories → $0.94B(5) &amp; $0.85B(8)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4289C3F-67AA-5541-33DA-1E54AAFBB442}"/>
              </a:ext>
            </a:extLst>
          </p:cNvPr>
          <p:cNvSpPr/>
          <p:nvPr/>
        </p:nvSpPr>
        <p:spPr>
          <a:xfrm>
            <a:off x="6332711" y="4834256"/>
            <a:ext cx="254915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4E5ECF7-C374-18CD-0D58-438B52F83E91}"/>
              </a:ext>
            </a:extLst>
          </p:cNvPr>
          <p:cNvSpPr txBox="1"/>
          <p:nvPr/>
        </p:nvSpPr>
        <p:spPr>
          <a:xfrm>
            <a:off x="6262019" y="4913694"/>
            <a:ext cx="28588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ACTION : </a:t>
            </a:r>
            <a:r>
              <a:rPr lang="en-IN" sz="1400" dirty="0">
                <a:solidFill>
                  <a:schemeClr val="bg1">
                    <a:lumMod val="95000"/>
                  </a:schemeClr>
                </a:solidFill>
                <a:latin typeface="Montserrat SemiBold" pitchFamily="2" charset="0"/>
              </a:rPr>
              <a:t>Maintain stronger stock availability for leading categories and create cross-selling opportunities around high-performing products.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ED1A1F4-A88C-2873-B352-778B9428E766}"/>
              </a:ext>
            </a:extLst>
          </p:cNvPr>
          <p:cNvSpPr txBox="1"/>
          <p:nvPr/>
        </p:nvSpPr>
        <p:spPr>
          <a:xfrm>
            <a:off x="9638105" y="2471561"/>
            <a:ext cx="26438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chemeClr val="bg1">
                    <a:lumMod val="75000"/>
                  </a:schemeClr>
                </a:solidFill>
              </a:rPr>
              <a:t>“Use customer value and purchase behaviour to build retention-focused marketing campaigns.”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E1E1DD1-85B3-EEAE-53FA-C317D873D1A2}"/>
              </a:ext>
            </a:extLst>
          </p:cNvPr>
          <p:cNvSpPr/>
          <p:nvPr/>
        </p:nvSpPr>
        <p:spPr>
          <a:xfrm>
            <a:off x="9377811" y="3420261"/>
            <a:ext cx="2549150" cy="6019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488DBDF-8226-13A6-EE50-33601894BCB7}"/>
              </a:ext>
            </a:extLst>
          </p:cNvPr>
          <p:cNvSpPr txBox="1"/>
          <p:nvPr/>
        </p:nvSpPr>
        <p:spPr>
          <a:xfrm>
            <a:off x="9332633" y="3589228"/>
            <a:ext cx="263950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Average CLV → $</a:t>
            </a:r>
            <a:r>
              <a:rPr lang="en-IN" sz="1600" b="1" dirty="0">
                <a:solidFill>
                  <a:schemeClr val="accent3"/>
                </a:solidFill>
              </a:rPr>
              <a:t> </a:t>
            </a:r>
            <a:r>
              <a:rPr lang="en-IN" sz="1600" b="1" dirty="0">
                <a:solidFill>
                  <a:schemeClr val="accent4"/>
                </a:solidFill>
              </a:rPr>
              <a:t>9.26K</a:t>
            </a:r>
            <a:endParaRPr lang="en-IN" sz="1600" dirty="0">
              <a:solidFill>
                <a:schemeClr val="accent4"/>
              </a:solidFill>
            </a:endParaRPr>
          </a:p>
          <a:p>
            <a:r>
              <a:rPr lang="en-IN" sz="1600" b="1" dirty="0">
                <a:solidFill>
                  <a:schemeClr val="accent4"/>
                </a:solidFill>
              </a:rPr>
              <a:t>High-Value CLV → $</a:t>
            </a:r>
            <a:r>
              <a:rPr lang="en-IN" sz="1600" b="1" dirty="0">
                <a:solidFill>
                  <a:schemeClr val="accent3"/>
                </a:solidFill>
              </a:rPr>
              <a:t> </a:t>
            </a:r>
            <a:r>
              <a:rPr lang="en-IN" sz="1600" b="1" dirty="0">
                <a:solidFill>
                  <a:schemeClr val="accent4"/>
                </a:solidFill>
              </a:rPr>
              <a:t>9.3K</a:t>
            </a:r>
          </a:p>
          <a:p>
            <a:r>
              <a:rPr lang="en-IN" sz="1600" b="1" dirty="0">
                <a:solidFill>
                  <a:schemeClr val="accent4"/>
                </a:solidFill>
              </a:rPr>
              <a:t>Medium-Value CLV → $</a:t>
            </a:r>
            <a:r>
              <a:rPr lang="en-IN" sz="1600" b="1" dirty="0">
                <a:solidFill>
                  <a:schemeClr val="accent3"/>
                </a:solidFill>
              </a:rPr>
              <a:t> </a:t>
            </a:r>
            <a:r>
              <a:rPr lang="en-IN" sz="1600" b="1" dirty="0">
                <a:solidFill>
                  <a:schemeClr val="accent4"/>
                </a:solidFill>
              </a:rPr>
              <a:t>2.5k</a:t>
            </a:r>
            <a:endParaRPr lang="en-IN" sz="1600" dirty="0">
              <a:solidFill>
                <a:schemeClr val="accent4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DA17A05-3986-1264-684D-F2248B2F31FA}"/>
              </a:ext>
            </a:extLst>
          </p:cNvPr>
          <p:cNvSpPr/>
          <p:nvPr/>
        </p:nvSpPr>
        <p:spPr>
          <a:xfrm>
            <a:off x="9377811" y="4827768"/>
            <a:ext cx="254915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DF3C558-0C98-5686-116B-3FFE3BEB569E}"/>
              </a:ext>
            </a:extLst>
          </p:cNvPr>
          <p:cNvSpPr txBox="1"/>
          <p:nvPr/>
        </p:nvSpPr>
        <p:spPr>
          <a:xfrm>
            <a:off x="9445613" y="4915780"/>
            <a:ext cx="281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ACTION : </a:t>
            </a:r>
            <a:r>
              <a:rPr lang="en-IN" sz="1400" b="1" dirty="0">
                <a:solidFill>
                  <a:schemeClr val="bg1">
                    <a:lumMod val="95000"/>
                  </a:schemeClr>
                </a:solidFill>
                <a:latin typeface="Montserrat SemiBold" pitchFamily="2" charset="0"/>
              </a:rPr>
              <a:t>Create loyalty programs, personalized recommendations and exclusive promotions for high-value and frequent customers.</a:t>
            </a:r>
          </a:p>
        </p:txBody>
      </p:sp>
      <p:pic>
        <p:nvPicPr>
          <p:cNvPr id="85" name="Graphic 84" descr="Group with solid fill">
            <a:extLst>
              <a:ext uri="{FF2B5EF4-FFF2-40B4-BE49-F238E27FC236}">
                <a16:creationId xmlns:a16="http://schemas.microsoft.com/office/drawing/2014/main" id="{6246A97D-D82E-E93A-CBE3-CAF21D2329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377" y="6064781"/>
            <a:ext cx="714368" cy="714368"/>
          </a:xfrm>
          <a:prstGeom prst="rect">
            <a:avLst/>
          </a:prstGeom>
        </p:spPr>
      </p:pic>
      <p:pic>
        <p:nvPicPr>
          <p:cNvPr id="87" name="Graphic 86" descr="Marker with solid fill">
            <a:extLst>
              <a:ext uri="{FF2B5EF4-FFF2-40B4-BE49-F238E27FC236}">
                <a16:creationId xmlns:a16="http://schemas.microsoft.com/office/drawing/2014/main" id="{B3F7B931-B280-6509-D932-AB5F94FEAE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34539" y="6078304"/>
            <a:ext cx="634000" cy="634000"/>
          </a:xfrm>
          <a:prstGeom prst="rect">
            <a:avLst/>
          </a:prstGeom>
        </p:spPr>
      </p:pic>
      <p:pic>
        <p:nvPicPr>
          <p:cNvPr id="89" name="Graphic 88" descr="Shopping cart with solid fill">
            <a:extLst>
              <a:ext uri="{FF2B5EF4-FFF2-40B4-BE49-F238E27FC236}">
                <a16:creationId xmlns:a16="http://schemas.microsoft.com/office/drawing/2014/main" id="{37568914-DA85-74DA-AF97-448D1DA1BD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31043" y="6082074"/>
            <a:ext cx="625179" cy="625179"/>
          </a:xfrm>
          <a:prstGeom prst="rect">
            <a:avLst/>
          </a:prstGeom>
        </p:spPr>
      </p:pic>
      <p:pic>
        <p:nvPicPr>
          <p:cNvPr id="91" name="Graphic 90" descr="Arrow circle with solid fill">
            <a:extLst>
              <a:ext uri="{FF2B5EF4-FFF2-40B4-BE49-F238E27FC236}">
                <a16:creationId xmlns:a16="http://schemas.microsoft.com/office/drawing/2014/main" id="{C2D6BCFB-1DFA-A939-4EA3-AEE9FB93B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77593" y="6199626"/>
            <a:ext cx="582438" cy="58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81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50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50"/>
                            </p:stCondLst>
                            <p:childTnLst>
                              <p:par>
                                <p:cTn id="3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50"/>
                            </p:stCondLst>
                            <p:childTnLst>
                              <p:par>
                                <p:cTn id="5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50"/>
                            </p:stCondLst>
                            <p:childTnLst>
                              <p:par>
                                <p:cTn id="6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50"/>
                            </p:stCondLst>
                            <p:childTnLst>
                              <p:par>
                                <p:cTn id="8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1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50"/>
                            </p:stCondLst>
                            <p:childTnLst>
                              <p:par>
                                <p:cTn id="9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0"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3"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750"/>
                            </p:stCondLst>
                            <p:childTnLst>
                              <p:par>
                                <p:cTn id="11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2" dur="7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0"/>
                            </p:stCondLst>
                            <p:childTnLst>
                              <p:par>
                                <p:cTn id="1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1" dur="7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1" grpId="0"/>
      <p:bldP spid="42" grpId="0"/>
      <p:bldP spid="43" grpId="0" animBg="1"/>
      <p:bldP spid="45" grpId="0" animBg="1"/>
      <p:bldP spid="46" grpId="0"/>
      <p:bldP spid="48" grpId="0"/>
      <p:bldP spid="50" grpId="0" animBg="1"/>
      <p:bldP spid="59" grpId="0" animBg="1"/>
      <p:bldP spid="61" grpId="0"/>
      <p:bldP spid="63" grpId="0"/>
      <p:bldP spid="65" grpId="0" animBg="1"/>
      <p:bldP spid="67" grpId="0"/>
      <p:bldP spid="71" grpId="0" animBg="1"/>
      <p:bldP spid="73" grpId="0"/>
      <p:bldP spid="75" grpId="0"/>
      <p:bldP spid="77" grpId="0" animBg="1"/>
      <p:bldP spid="79" grpId="0"/>
      <p:bldP spid="81" grpId="0" animBg="1"/>
      <p:bldP spid="8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85000"/>
                <a:lumOff val="15000"/>
              </a:schemeClr>
            </a:gs>
            <a:gs pos="92000">
              <a:schemeClr val="tx1">
                <a:lumMod val="95000"/>
                <a:lumOff val="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19219-2747-3B92-F9CB-D1D61D172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E3415839-93CA-23F4-D838-E3D14CB6D4AD}"/>
              </a:ext>
            </a:extLst>
          </p:cNvPr>
          <p:cNvSpPr txBox="1"/>
          <p:nvPr/>
        </p:nvSpPr>
        <p:spPr>
          <a:xfrm>
            <a:off x="-1402080" y="2563503"/>
            <a:ext cx="13472160" cy="209288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0800">
              <a:bevelT h="63500"/>
            </a:sp3d>
          </a:bodyPr>
          <a:lstStyle/>
          <a:p>
            <a:pPr algn="ctr"/>
            <a:r>
              <a:rPr lang="en-US" sz="13000" b="1" spc="-300" dirty="0">
                <a:gradFill flip="none" rotWithShape="1">
                  <a:gsLst>
                    <a:gs pos="75000">
                      <a:srgbClr val="E65F0A"/>
                    </a:gs>
                    <a:gs pos="50000">
                      <a:srgbClr val="FFB446"/>
                    </a:gs>
                    <a:gs pos="25000">
                      <a:srgbClr val="FF8214"/>
                    </a:gs>
                    <a:gs pos="0">
                      <a:srgbClr val="2D2D2D"/>
                    </a:gs>
                    <a:gs pos="100000">
                      <a:srgbClr val="373737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FF8214">
                      <a:alpha val="30000"/>
                    </a:srgbClr>
                  </a:glow>
                  <a:outerShdw blurRad="101600" dist="50800" dir="5400000" algn="ctr" rotWithShape="0">
                    <a:schemeClr val="tx1">
                      <a:alpha val="70000"/>
                    </a:schemeClr>
                  </a:outerShdw>
                </a:effectLst>
                <a:latin typeface="Cooper Black" panose="0208090404030B020404" pitchFamily="18" charset="0"/>
              </a:rPr>
              <a:t>THANK YOU</a:t>
            </a:r>
            <a:endParaRPr lang="en-IN" sz="13000" b="1" spc="-300" dirty="0">
              <a:gradFill flip="none" rotWithShape="1">
                <a:gsLst>
                  <a:gs pos="75000">
                    <a:srgbClr val="E65F0A"/>
                  </a:gs>
                  <a:gs pos="50000">
                    <a:srgbClr val="FFB446"/>
                  </a:gs>
                  <a:gs pos="25000">
                    <a:srgbClr val="FF8214"/>
                  </a:gs>
                  <a:gs pos="0">
                    <a:srgbClr val="2D2D2D"/>
                  </a:gs>
                  <a:gs pos="100000">
                    <a:srgbClr val="373737"/>
                  </a:gs>
                </a:gsLst>
                <a:lin ang="5400000" scaled="1"/>
                <a:tileRect/>
              </a:gradFill>
              <a:effectLst>
                <a:glow rad="63500">
                  <a:srgbClr val="FF8214">
                    <a:alpha val="30000"/>
                  </a:srgbClr>
                </a:glow>
                <a:outerShdw blurRad="101600" dist="50800" dir="5400000" algn="ctr" rotWithShape="0">
                  <a:schemeClr val="tx1">
                    <a:alpha val="70000"/>
                  </a:schemeClr>
                </a:outerShdw>
              </a:effectLst>
              <a:latin typeface="Cooper Black" panose="0208090404030B020404" pitchFamily="18" charset="0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C80C8C19-F9AD-5BC2-5EC6-01AFA1A378F0}"/>
              </a:ext>
            </a:extLst>
          </p:cNvPr>
          <p:cNvSpPr/>
          <p:nvPr/>
        </p:nvSpPr>
        <p:spPr>
          <a:xfrm>
            <a:off x="0" y="0"/>
            <a:ext cx="8425271" cy="6858000"/>
          </a:xfrm>
          <a:custGeom>
            <a:avLst/>
            <a:gdLst>
              <a:gd name="csX0" fmla="*/ 0 w 8425271"/>
              <a:gd name="csY0" fmla="*/ 0 h 6858000"/>
              <a:gd name="csX1" fmla="*/ 1888031 w 8425271"/>
              <a:gd name="csY1" fmla="*/ 0 h 6858000"/>
              <a:gd name="csX2" fmla="*/ 1962388 w 8425271"/>
              <a:gd name="csY2" fmla="*/ 74235 h 6858000"/>
              <a:gd name="csX3" fmla="*/ 2346960 w 8425271"/>
              <a:gd name="csY3" fmla="*/ 609600 h 6858000"/>
              <a:gd name="csX4" fmla="*/ 2042160 w 8425271"/>
              <a:gd name="csY4" fmla="*/ 3048000 h 6858000"/>
              <a:gd name="csX5" fmla="*/ 5806440 w 8425271"/>
              <a:gd name="csY5" fmla="*/ 4389120 h 6858000"/>
              <a:gd name="csX6" fmla="*/ 4876800 w 8425271"/>
              <a:gd name="csY6" fmla="*/ 5913120 h 6858000"/>
              <a:gd name="csX7" fmla="*/ 8077200 w 8425271"/>
              <a:gd name="csY7" fmla="*/ 6400800 h 6858000"/>
              <a:gd name="csX8" fmla="*/ 8406668 w 8425271"/>
              <a:gd name="csY8" fmla="*/ 6792451 h 6858000"/>
              <a:gd name="csX9" fmla="*/ 8425271 w 8425271"/>
              <a:gd name="csY9" fmla="*/ 6858000 h 6858000"/>
              <a:gd name="csX10" fmla="*/ 0 w 8425271"/>
              <a:gd name="csY10" fmla="*/ 6858000 h 6858000"/>
              <a:gd name="csX11" fmla="*/ 0 w 8425271"/>
              <a:gd name="csY11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8425271" h="6858000">
                <a:moveTo>
                  <a:pt x="0" y="0"/>
                </a:moveTo>
                <a:lnTo>
                  <a:pt x="1888031" y="0"/>
                </a:lnTo>
                <a:lnTo>
                  <a:pt x="1962388" y="74235"/>
                </a:lnTo>
                <a:cubicBezTo>
                  <a:pt x="2126298" y="246936"/>
                  <a:pt x="2258060" y="424815"/>
                  <a:pt x="2346960" y="609600"/>
                </a:cubicBezTo>
                <a:cubicBezTo>
                  <a:pt x="2702560" y="1348740"/>
                  <a:pt x="1465580" y="2418080"/>
                  <a:pt x="2042160" y="3048000"/>
                </a:cubicBezTo>
                <a:cubicBezTo>
                  <a:pt x="2618740" y="3677920"/>
                  <a:pt x="5334000" y="3911600"/>
                  <a:pt x="5806440" y="4389120"/>
                </a:cubicBezTo>
                <a:cubicBezTo>
                  <a:pt x="6278880" y="4866640"/>
                  <a:pt x="4498340" y="5577840"/>
                  <a:pt x="4876800" y="5913120"/>
                </a:cubicBezTo>
                <a:cubicBezTo>
                  <a:pt x="5255260" y="6248400"/>
                  <a:pt x="7543800" y="6083300"/>
                  <a:pt x="8077200" y="6400800"/>
                </a:cubicBezTo>
                <a:cubicBezTo>
                  <a:pt x="8243888" y="6500019"/>
                  <a:pt x="8351540" y="6637933"/>
                  <a:pt x="8406668" y="6792451"/>
                </a:cubicBezTo>
                <a:lnTo>
                  <a:pt x="842527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1270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0D31A690-759C-9B6B-3C4A-3CF6A1767512}"/>
              </a:ext>
            </a:extLst>
          </p:cNvPr>
          <p:cNvSpPr/>
          <p:nvPr/>
        </p:nvSpPr>
        <p:spPr>
          <a:xfrm>
            <a:off x="-958895" y="0"/>
            <a:ext cx="8425271" cy="6858000"/>
          </a:xfrm>
          <a:custGeom>
            <a:avLst/>
            <a:gdLst>
              <a:gd name="csX0" fmla="*/ 0 w 8425271"/>
              <a:gd name="csY0" fmla="*/ 0 h 6858000"/>
              <a:gd name="csX1" fmla="*/ 1888031 w 8425271"/>
              <a:gd name="csY1" fmla="*/ 0 h 6858000"/>
              <a:gd name="csX2" fmla="*/ 1962388 w 8425271"/>
              <a:gd name="csY2" fmla="*/ 74235 h 6858000"/>
              <a:gd name="csX3" fmla="*/ 2346960 w 8425271"/>
              <a:gd name="csY3" fmla="*/ 609600 h 6858000"/>
              <a:gd name="csX4" fmla="*/ 2042160 w 8425271"/>
              <a:gd name="csY4" fmla="*/ 3048000 h 6858000"/>
              <a:gd name="csX5" fmla="*/ 5806440 w 8425271"/>
              <a:gd name="csY5" fmla="*/ 4389120 h 6858000"/>
              <a:gd name="csX6" fmla="*/ 4876800 w 8425271"/>
              <a:gd name="csY6" fmla="*/ 5913120 h 6858000"/>
              <a:gd name="csX7" fmla="*/ 8077200 w 8425271"/>
              <a:gd name="csY7" fmla="*/ 6400800 h 6858000"/>
              <a:gd name="csX8" fmla="*/ 8406668 w 8425271"/>
              <a:gd name="csY8" fmla="*/ 6792451 h 6858000"/>
              <a:gd name="csX9" fmla="*/ 8425271 w 8425271"/>
              <a:gd name="csY9" fmla="*/ 6858000 h 6858000"/>
              <a:gd name="csX10" fmla="*/ 0 w 8425271"/>
              <a:gd name="csY10" fmla="*/ 6858000 h 6858000"/>
              <a:gd name="csX11" fmla="*/ 0 w 8425271"/>
              <a:gd name="csY11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8425271" h="6858000">
                <a:moveTo>
                  <a:pt x="0" y="0"/>
                </a:moveTo>
                <a:lnTo>
                  <a:pt x="1888031" y="0"/>
                </a:lnTo>
                <a:lnTo>
                  <a:pt x="1962388" y="74235"/>
                </a:lnTo>
                <a:cubicBezTo>
                  <a:pt x="2126298" y="246936"/>
                  <a:pt x="2258060" y="424815"/>
                  <a:pt x="2346960" y="609600"/>
                </a:cubicBezTo>
                <a:cubicBezTo>
                  <a:pt x="2702560" y="1348740"/>
                  <a:pt x="1465580" y="2418080"/>
                  <a:pt x="2042160" y="3048000"/>
                </a:cubicBezTo>
                <a:cubicBezTo>
                  <a:pt x="2618740" y="3677920"/>
                  <a:pt x="5334000" y="3911600"/>
                  <a:pt x="5806440" y="4389120"/>
                </a:cubicBezTo>
                <a:cubicBezTo>
                  <a:pt x="6278880" y="4866640"/>
                  <a:pt x="4498340" y="5577840"/>
                  <a:pt x="4876800" y="5913120"/>
                </a:cubicBezTo>
                <a:cubicBezTo>
                  <a:pt x="5255260" y="6248400"/>
                  <a:pt x="7543800" y="6083300"/>
                  <a:pt x="8077200" y="6400800"/>
                </a:cubicBezTo>
                <a:cubicBezTo>
                  <a:pt x="8243888" y="6500019"/>
                  <a:pt x="8351540" y="6637933"/>
                  <a:pt x="8406668" y="6792451"/>
                </a:cubicBezTo>
                <a:lnTo>
                  <a:pt x="842527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</a:gsLst>
          </a:gradFill>
          <a:ln>
            <a:noFill/>
          </a:ln>
          <a:effectLst>
            <a:outerShdw blurRad="63500" dist="76200" dir="5400000" algn="t" rotWithShape="0">
              <a:schemeClr val="accent6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E37F060B-9057-5F03-A547-09812217F082}"/>
              </a:ext>
            </a:extLst>
          </p:cNvPr>
          <p:cNvSpPr/>
          <p:nvPr/>
        </p:nvSpPr>
        <p:spPr>
          <a:xfrm>
            <a:off x="4465320" y="0"/>
            <a:ext cx="7726680" cy="6858000"/>
          </a:xfrm>
          <a:custGeom>
            <a:avLst/>
            <a:gdLst>
              <a:gd name="csX0" fmla="*/ 1546 w 10305515"/>
              <a:gd name="csY0" fmla="*/ 0 h 6858000"/>
              <a:gd name="csX1" fmla="*/ 10305515 w 10305515"/>
              <a:gd name="csY1" fmla="*/ 0 h 6858000"/>
              <a:gd name="csX2" fmla="*/ 10305515 w 10305515"/>
              <a:gd name="csY2" fmla="*/ 6858000 h 6858000"/>
              <a:gd name="csX3" fmla="*/ 6538786 w 10305515"/>
              <a:gd name="csY3" fmla="*/ 6858000 h 6858000"/>
              <a:gd name="csX4" fmla="*/ 6520183 w 10305515"/>
              <a:gd name="csY4" fmla="*/ 6792451 h 6858000"/>
              <a:gd name="csX5" fmla="*/ 6190715 w 10305515"/>
              <a:gd name="csY5" fmla="*/ 6400800 h 6858000"/>
              <a:gd name="csX6" fmla="*/ 2990315 w 10305515"/>
              <a:gd name="csY6" fmla="*/ 5913120 h 6858000"/>
              <a:gd name="csX7" fmla="*/ 3919955 w 10305515"/>
              <a:gd name="csY7" fmla="*/ 4389120 h 6858000"/>
              <a:gd name="csX8" fmla="*/ 155675 w 10305515"/>
              <a:gd name="csY8" fmla="*/ 3048000 h 6858000"/>
              <a:gd name="csX9" fmla="*/ 460475 w 10305515"/>
              <a:gd name="csY9" fmla="*/ 609600 h 6858000"/>
              <a:gd name="csX10" fmla="*/ 75903 w 10305515"/>
              <a:gd name="csY10" fmla="*/ 74235 h 6858000"/>
              <a:gd name="csX11" fmla="*/ 1546 w 10305515"/>
              <a:gd name="csY11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0305515" h="6858000">
                <a:moveTo>
                  <a:pt x="1546" y="0"/>
                </a:moveTo>
                <a:lnTo>
                  <a:pt x="10305515" y="0"/>
                </a:lnTo>
                <a:lnTo>
                  <a:pt x="10305515" y="6858000"/>
                </a:lnTo>
                <a:lnTo>
                  <a:pt x="6538786" y="6858000"/>
                </a:lnTo>
                <a:lnTo>
                  <a:pt x="6520183" y="6792451"/>
                </a:lnTo>
                <a:cubicBezTo>
                  <a:pt x="6465055" y="6637933"/>
                  <a:pt x="6357403" y="6500019"/>
                  <a:pt x="6190715" y="6400800"/>
                </a:cubicBezTo>
                <a:cubicBezTo>
                  <a:pt x="5657315" y="6083300"/>
                  <a:pt x="3368775" y="6248400"/>
                  <a:pt x="2990315" y="5913120"/>
                </a:cubicBezTo>
                <a:cubicBezTo>
                  <a:pt x="2611855" y="5577840"/>
                  <a:pt x="4392395" y="4866640"/>
                  <a:pt x="3919955" y="4389120"/>
                </a:cubicBezTo>
                <a:cubicBezTo>
                  <a:pt x="3447515" y="3911600"/>
                  <a:pt x="732255" y="3677920"/>
                  <a:pt x="155675" y="3048000"/>
                </a:cubicBezTo>
                <a:cubicBezTo>
                  <a:pt x="-420905" y="2418080"/>
                  <a:pt x="816075" y="1348740"/>
                  <a:pt x="460475" y="609600"/>
                </a:cubicBezTo>
                <a:cubicBezTo>
                  <a:pt x="371575" y="424815"/>
                  <a:pt x="239813" y="246936"/>
                  <a:pt x="75903" y="74235"/>
                </a:cubicBezTo>
                <a:lnTo>
                  <a:pt x="1546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38100" dist="50800" dir="5400000" algn="t" rotWithShape="0">
              <a:schemeClr val="tx1"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B0AA4314-E976-832D-3002-792E41B1DB8C}"/>
              </a:ext>
            </a:extLst>
          </p:cNvPr>
          <p:cNvSpPr/>
          <p:nvPr/>
        </p:nvSpPr>
        <p:spPr>
          <a:xfrm>
            <a:off x="5669281" y="0"/>
            <a:ext cx="6522720" cy="6858000"/>
          </a:xfrm>
          <a:custGeom>
            <a:avLst/>
            <a:gdLst>
              <a:gd name="csX0" fmla="*/ 1546 w 10305515"/>
              <a:gd name="csY0" fmla="*/ 0 h 6858000"/>
              <a:gd name="csX1" fmla="*/ 10305515 w 10305515"/>
              <a:gd name="csY1" fmla="*/ 0 h 6858000"/>
              <a:gd name="csX2" fmla="*/ 10305515 w 10305515"/>
              <a:gd name="csY2" fmla="*/ 6858000 h 6858000"/>
              <a:gd name="csX3" fmla="*/ 6538786 w 10305515"/>
              <a:gd name="csY3" fmla="*/ 6858000 h 6858000"/>
              <a:gd name="csX4" fmla="*/ 6520183 w 10305515"/>
              <a:gd name="csY4" fmla="*/ 6792451 h 6858000"/>
              <a:gd name="csX5" fmla="*/ 6190715 w 10305515"/>
              <a:gd name="csY5" fmla="*/ 6400800 h 6858000"/>
              <a:gd name="csX6" fmla="*/ 2990315 w 10305515"/>
              <a:gd name="csY6" fmla="*/ 5913120 h 6858000"/>
              <a:gd name="csX7" fmla="*/ 3919955 w 10305515"/>
              <a:gd name="csY7" fmla="*/ 4389120 h 6858000"/>
              <a:gd name="csX8" fmla="*/ 155675 w 10305515"/>
              <a:gd name="csY8" fmla="*/ 3048000 h 6858000"/>
              <a:gd name="csX9" fmla="*/ 460475 w 10305515"/>
              <a:gd name="csY9" fmla="*/ 609600 h 6858000"/>
              <a:gd name="csX10" fmla="*/ 75903 w 10305515"/>
              <a:gd name="csY10" fmla="*/ 74235 h 6858000"/>
              <a:gd name="csX11" fmla="*/ 1546 w 10305515"/>
              <a:gd name="csY11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0305515" h="6858000">
                <a:moveTo>
                  <a:pt x="1546" y="0"/>
                </a:moveTo>
                <a:lnTo>
                  <a:pt x="10305515" y="0"/>
                </a:lnTo>
                <a:lnTo>
                  <a:pt x="10305515" y="6858000"/>
                </a:lnTo>
                <a:lnTo>
                  <a:pt x="6538786" y="6858000"/>
                </a:lnTo>
                <a:lnTo>
                  <a:pt x="6520183" y="6792451"/>
                </a:lnTo>
                <a:cubicBezTo>
                  <a:pt x="6465055" y="6637933"/>
                  <a:pt x="6357403" y="6500019"/>
                  <a:pt x="6190715" y="6400800"/>
                </a:cubicBezTo>
                <a:cubicBezTo>
                  <a:pt x="5657315" y="6083300"/>
                  <a:pt x="3368775" y="6248400"/>
                  <a:pt x="2990315" y="5913120"/>
                </a:cubicBezTo>
                <a:cubicBezTo>
                  <a:pt x="2611855" y="5577840"/>
                  <a:pt x="4392395" y="4866640"/>
                  <a:pt x="3919955" y="4389120"/>
                </a:cubicBezTo>
                <a:cubicBezTo>
                  <a:pt x="3447515" y="3911600"/>
                  <a:pt x="732255" y="3677920"/>
                  <a:pt x="155675" y="3048000"/>
                </a:cubicBezTo>
                <a:cubicBezTo>
                  <a:pt x="-420905" y="2418080"/>
                  <a:pt x="816075" y="1348740"/>
                  <a:pt x="460475" y="609600"/>
                </a:cubicBezTo>
                <a:cubicBezTo>
                  <a:pt x="371575" y="424815"/>
                  <a:pt x="239813" y="246936"/>
                  <a:pt x="75903" y="74235"/>
                </a:cubicBezTo>
                <a:lnTo>
                  <a:pt x="1546" y="0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2"/>
              </a:gs>
            </a:gsLst>
          </a:gradFill>
          <a:ln>
            <a:noFill/>
          </a:ln>
          <a:effectLst>
            <a:outerShdw blurRad="38100" dist="50800" dir="5400000" algn="t" rotWithShape="0">
              <a:schemeClr val="accent6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7630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85000"/>
                <a:lumOff val="15000"/>
              </a:schemeClr>
            </a:gs>
            <a:gs pos="92000">
              <a:schemeClr val="tx1">
                <a:lumMod val="95000"/>
                <a:lumOff val="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CA5D0C-1635-5E93-61B8-68F47CCB6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9E5F12A4-CDFB-05C2-877D-9249B7C554F4}"/>
              </a:ext>
            </a:extLst>
          </p:cNvPr>
          <p:cNvSpPr/>
          <p:nvPr/>
        </p:nvSpPr>
        <p:spPr>
          <a:xfrm>
            <a:off x="-640080" y="0"/>
            <a:ext cx="3992880" cy="8763000"/>
          </a:xfrm>
          <a:custGeom>
            <a:avLst/>
            <a:gdLst>
              <a:gd name="csX0" fmla="*/ 0 w 8425271"/>
              <a:gd name="csY0" fmla="*/ 0 h 6858000"/>
              <a:gd name="csX1" fmla="*/ 1888031 w 8425271"/>
              <a:gd name="csY1" fmla="*/ 0 h 6858000"/>
              <a:gd name="csX2" fmla="*/ 1962388 w 8425271"/>
              <a:gd name="csY2" fmla="*/ 74235 h 6858000"/>
              <a:gd name="csX3" fmla="*/ 2346960 w 8425271"/>
              <a:gd name="csY3" fmla="*/ 609600 h 6858000"/>
              <a:gd name="csX4" fmla="*/ 2042160 w 8425271"/>
              <a:gd name="csY4" fmla="*/ 3048000 h 6858000"/>
              <a:gd name="csX5" fmla="*/ 5806440 w 8425271"/>
              <a:gd name="csY5" fmla="*/ 4389120 h 6858000"/>
              <a:gd name="csX6" fmla="*/ 4876800 w 8425271"/>
              <a:gd name="csY6" fmla="*/ 5913120 h 6858000"/>
              <a:gd name="csX7" fmla="*/ 8077200 w 8425271"/>
              <a:gd name="csY7" fmla="*/ 6400800 h 6858000"/>
              <a:gd name="csX8" fmla="*/ 8406668 w 8425271"/>
              <a:gd name="csY8" fmla="*/ 6792451 h 6858000"/>
              <a:gd name="csX9" fmla="*/ 8425271 w 8425271"/>
              <a:gd name="csY9" fmla="*/ 6858000 h 6858000"/>
              <a:gd name="csX10" fmla="*/ 0 w 8425271"/>
              <a:gd name="csY10" fmla="*/ 6858000 h 6858000"/>
              <a:gd name="csX11" fmla="*/ 0 w 8425271"/>
              <a:gd name="csY11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8425271" h="6858000">
                <a:moveTo>
                  <a:pt x="0" y="0"/>
                </a:moveTo>
                <a:lnTo>
                  <a:pt x="1888031" y="0"/>
                </a:lnTo>
                <a:lnTo>
                  <a:pt x="1962388" y="74235"/>
                </a:lnTo>
                <a:cubicBezTo>
                  <a:pt x="2126298" y="246936"/>
                  <a:pt x="2258060" y="424815"/>
                  <a:pt x="2346960" y="609600"/>
                </a:cubicBezTo>
                <a:cubicBezTo>
                  <a:pt x="2702560" y="1348740"/>
                  <a:pt x="1465580" y="2418080"/>
                  <a:pt x="2042160" y="3048000"/>
                </a:cubicBezTo>
                <a:cubicBezTo>
                  <a:pt x="2618740" y="3677920"/>
                  <a:pt x="5334000" y="3911600"/>
                  <a:pt x="5806440" y="4389120"/>
                </a:cubicBezTo>
                <a:cubicBezTo>
                  <a:pt x="6278880" y="4866640"/>
                  <a:pt x="4498340" y="5577840"/>
                  <a:pt x="4876800" y="5913120"/>
                </a:cubicBezTo>
                <a:cubicBezTo>
                  <a:pt x="5255260" y="6248400"/>
                  <a:pt x="7543800" y="6083300"/>
                  <a:pt x="8077200" y="6400800"/>
                </a:cubicBezTo>
                <a:cubicBezTo>
                  <a:pt x="8243888" y="6500019"/>
                  <a:pt x="8351540" y="6637933"/>
                  <a:pt x="8406668" y="6792451"/>
                </a:cubicBezTo>
                <a:lnTo>
                  <a:pt x="842527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1270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A1E1423-3ADA-47D9-E3A2-1F6222D5A57D}"/>
              </a:ext>
            </a:extLst>
          </p:cNvPr>
          <p:cNvSpPr/>
          <p:nvPr/>
        </p:nvSpPr>
        <p:spPr>
          <a:xfrm>
            <a:off x="-1507535" y="0"/>
            <a:ext cx="6125255" cy="8763000"/>
          </a:xfrm>
          <a:custGeom>
            <a:avLst/>
            <a:gdLst>
              <a:gd name="csX0" fmla="*/ 0 w 8425271"/>
              <a:gd name="csY0" fmla="*/ 0 h 6858000"/>
              <a:gd name="csX1" fmla="*/ 1888031 w 8425271"/>
              <a:gd name="csY1" fmla="*/ 0 h 6858000"/>
              <a:gd name="csX2" fmla="*/ 1962388 w 8425271"/>
              <a:gd name="csY2" fmla="*/ 74235 h 6858000"/>
              <a:gd name="csX3" fmla="*/ 2346960 w 8425271"/>
              <a:gd name="csY3" fmla="*/ 609600 h 6858000"/>
              <a:gd name="csX4" fmla="*/ 2042160 w 8425271"/>
              <a:gd name="csY4" fmla="*/ 3048000 h 6858000"/>
              <a:gd name="csX5" fmla="*/ 5806440 w 8425271"/>
              <a:gd name="csY5" fmla="*/ 4389120 h 6858000"/>
              <a:gd name="csX6" fmla="*/ 4876800 w 8425271"/>
              <a:gd name="csY6" fmla="*/ 5913120 h 6858000"/>
              <a:gd name="csX7" fmla="*/ 8077200 w 8425271"/>
              <a:gd name="csY7" fmla="*/ 6400800 h 6858000"/>
              <a:gd name="csX8" fmla="*/ 8406668 w 8425271"/>
              <a:gd name="csY8" fmla="*/ 6792451 h 6858000"/>
              <a:gd name="csX9" fmla="*/ 8425271 w 8425271"/>
              <a:gd name="csY9" fmla="*/ 6858000 h 6858000"/>
              <a:gd name="csX10" fmla="*/ 0 w 8425271"/>
              <a:gd name="csY10" fmla="*/ 6858000 h 6858000"/>
              <a:gd name="csX11" fmla="*/ 0 w 8425271"/>
              <a:gd name="csY11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8425271" h="6858000">
                <a:moveTo>
                  <a:pt x="0" y="0"/>
                </a:moveTo>
                <a:lnTo>
                  <a:pt x="1888031" y="0"/>
                </a:lnTo>
                <a:lnTo>
                  <a:pt x="1962388" y="74235"/>
                </a:lnTo>
                <a:cubicBezTo>
                  <a:pt x="2126298" y="246936"/>
                  <a:pt x="2258060" y="424815"/>
                  <a:pt x="2346960" y="609600"/>
                </a:cubicBezTo>
                <a:cubicBezTo>
                  <a:pt x="2702560" y="1348740"/>
                  <a:pt x="1465580" y="2418080"/>
                  <a:pt x="2042160" y="3048000"/>
                </a:cubicBezTo>
                <a:cubicBezTo>
                  <a:pt x="2618740" y="3677920"/>
                  <a:pt x="5334000" y="3911600"/>
                  <a:pt x="5806440" y="4389120"/>
                </a:cubicBezTo>
                <a:cubicBezTo>
                  <a:pt x="6278880" y="4866640"/>
                  <a:pt x="4498340" y="5577840"/>
                  <a:pt x="4876800" y="5913120"/>
                </a:cubicBezTo>
                <a:cubicBezTo>
                  <a:pt x="5255260" y="6248400"/>
                  <a:pt x="7543800" y="6083300"/>
                  <a:pt x="8077200" y="6400800"/>
                </a:cubicBezTo>
                <a:cubicBezTo>
                  <a:pt x="8243888" y="6500019"/>
                  <a:pt x="8351540" y="6637933"/>
                  <a:pt x="8406668" y="6792451"/>
                </a:cubicBezTo>
                <a:lnTo>
                  <a:pt x="842527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</a:gsLst>
          </a:gradFill>
          <a:ln>
            <a:noFill/>
          </a:ln>
          <a:effectLst>
            <a:outerShdw blurRad="63500" dist="76200" dir="5400000" algn="t" rotWithShape="0">
              <a:schemeClr val="accent6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7F4CF93-1501-7162-209C-9B4B80D36663}"/>
              </a:ext>
            </a:extLst>
          </p:cNvPr>
          <p:cNvSpPr/>
          <p:nvPr/>
        </p:nvSpPr>
        <p:spPr>
          <a:xfrm>
            <a:off x="9358584" y="-3890637"/>
            <a:ext cx="5849711" cy="11871960"/>
          </a:xfrm>
          <a:custGeom>
            <a:avLst/>
            <a:gdLst>
              <a:gd name="csX0" fmla="*/ 1546 w 10305515"/>
              <a:gd name="csY0" fmla="*/ 0 h 6858000"/>
              <a:gd name="csX1" fmla="*/ 10305515 w 10305515"/>
              <a:gd name="csY1" fmla="*/ 0 h 6858000"/>
              <a:gd name="csX2" fmla="*/ 10305515 w 10305515"/>
              <a:gd name="csY2" fmla="*/ 6858000 h 6858000"/>
              <a:gd name="csX3" fmla="*/ 6538786 w 10305515"/>
              <a:gd name="csY3" fmla="*/ 6858000 h 6858000"/>
              <a:gd name="csX4" fmla="*/ 6520183 w 10305515"/>
              <a:gd name="csY4" fmla="*/ 6792451 h 6858000"/>
              <a:gd name="csX5" fmla="*/ 6190715 w 10305515"/>
              <a:gd name="csY5" fmla="*/ 6400800 h 6858000"/>
              <a:gd name="csX6" fmla="*/ 2990315 w 10305515"/>
              <a:gd name="csY6" fmla="*/ 5913120 h 6858000"/>
              <a:gd name="csX7" fmla="*/ 3919955 w 10305515"/>
              <a:gd name="csY7" fmla="*/ 4389120 h 6858000"/>
              <a:gd name="csX8" fmla="*/ 155675 w 10305515"/>
              <a:gd name="csY8" fmla="*/ 3048000 h 6858000"/>
              <a:gd name="csX9" fmla="*/ 460475 w 10305515"/>
              <a:gd name="csY9" fmla="*/ 609600 h 6858000"/>
              <a:gd name="csX10" fmla="*/ 75903 w 10305515"/>
              <a:gd name="csY10" fmla="*/ 74235 h 6858000"/>
              <a:gd name="csX11" fmla="*/ 1546 w 10305515"/>
              <a:gd name="csY11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0305515" h="6858000">
                <a:moveTo>
                  <a:pt x="1546" y="0"/>
                </a:moveTo>
                <a:lnTo>
                  <a:pt x="10305515" y="0"/>
                </a:lnTo>
                <a:lnTo>
                  <a:pt x="10305515" y="6858000"/>
                </a:lnTo>
                <a:lnTo>
                  <a:pt x="6538786" y="6858000"/>
                </a:lnTo>
                <a:lnTo>
                  <a:pt x="6520183" y="6792451"/>
                </a:lnTo>
                <a:cubicBezTo>
                  <a:pt x="6465055" y="6637933"/>
                  <a:pt x="6357403" y="6500019"/>
                  <a:pt x="6190715" y="6400800"/>
                </a:cubicBezTo>
                <a:cubicBezTo>
                  <a:pt x="5657315" y="6083300"/>
                  <a:pt x="3368775" y="6248400"/>
                  <a:pt x="2990315" y="5913120"/>
                </a:cubicBezTo>
                <a:cubicBezTo>
                  <a:pt x="2611855" y="5577840"/>
                  <a:pt x="4392395" y="4866640"/>
                  <a:pt x="3919955" y="4389120"/>
                </a:cubicBezTo>
                <a:cubicBezTo>
                  <a:pt x="3447515" y="3911600"/>
                  <a:pt x="732255" y="3677920"/>
                  <a:pt x="155675" y="3048000"/>
                </a:cubicBezTo>
                <a:cubicBezTo>
                  <a:pt x="-420905" y="2418080"/>
                  <a:pt x="816075" y="1348740"/>
                  <a:pt x="460475" y="609600"/>
                </a:cubicBezTo>
                <a:cubicBezTo>
                  <a:pt x="371575" y="424815"/>
                  <a:pt x="239813" y="246936"/>
                  <a:pt x="75903" y="74235"/>
                </a:cubicBezTo>
                <a:lnTo>
                  <a:pt x="1546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38100" dist="50800" dir="5400000" algn="t" rotWithShape="0">
              <a:schemeClr val="tx1"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DCEFA943-0400-DE87-CFA6-0D63DE0EB108}"/>
              </a:ext>
            </a:extLst>
          </p:cNvPr>
          <p:cNvSpPr/>
          <p:nvPr/>
        </p:nvSpPr>
        <p:spPr>
          <a:xfrm>
            <a:off x="9998053" y="-5353677"/>
            <a:ext cx="5668054" cy="13335000"/>
          </a:xfrm>
          <a:custGeom>
            <a:avLst/>
            <a:gdLst>
              <a:gd name="csX0" fmla="*/ 1546 w 10305515"/>
              <a:gd name="csY0" fmla="*/ 0 h 6858000"/>
              <a:gd name="csX1" fmla="*/ 10305515 w 10305515"/>
              <a:gd name="csY1" fmla="*/ 0 h 6858000"/>
              <a:gd name="csX2" fmla="*/ 10305515 w 10305515"/>
              <a:gd name="csY2" fmla="*/ 6858000 h 6858000"/>
              <a:gd name="csX3" fmla="*/ 6538786 w 10305515"/>
              <a:gd name="csY3" fmla="*/ 6858000 h 6858000"/>
              <a:gd name="csX4" fmla="*/ 6520183 w 10305515"/>
              <a:gd name="csY4" fmla="*/ 6792451 h 6858000"/>
              <a:gd name="csX5" fmla="*/ 6190715 w 10305515"/>
              <a:gd name="csY5" fmla="*/ 6400800 h 6858000"/>
              <a:gd name="csX6" fmla="*/ 2990315 w 10305515"/>
              <a:gd name="csY6" fmla="*/ 5913120 h 6858000"/>
              <a:gd name="csX7" fmla="*/ 3919955 w 10305515"/>
              <a:gd name="csY7" fmla="*/ 4389120 h 6858000"/>
              <a:gd name="csX8" fmla="*/ 155675 w 10305515"/>
              <a:gd name="csY8" fmla="*/ 3048000 h 6858000"/>
              <a:gd name="csX9" fmla="*/ 460475 w 10305515"/>
              <a:gd name="csY9" fmla="*/ 609600 h 6858000"/>
              <a:gd name="csX10" fmla="*/ 75903 w 10305515"/>
              <a:gd name="csY10" fmla="*/ 74235 h 6858000"/>
              <a:gd name="csX11" fmla="*/ 1546 w 10305515"/>
              <a:gd name="csY11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0305515" h="6858000">
                <a:moveTo>
                  <a:pt x="1546" y="0"/>
                </a:moveTo>
                <a:lnTo>
                  <a:pt x="10305515" y="0"/>
                </a:lnTo>
                <a:lnTo>
                  <a:pt x="10305515" y="6858000"/>
                </a:lnTo>
                <a:lnTo>
                  <a:pt x="6538786" y="6858000"/>
                </a:lnTo>
                <a:lnTo>
                  <a:pt x="6520183" y="6792451"/>
                </a:lnTo>
                <a:cubicBezTo>
                  <a:pt x="6465055" y="6637933"/>
                  <a:pt x="6357403" y="6500019"/>
                  <a:pt x="6190715" y="6400800"/>
                </a:cubicBezTo>
                <a:cubicBezTo>
                  <a:pt x="5657315" y="6083300"/>
                  <a:pt x="3368775" y="6248400"/>
                  <a:pt x="2990315" y="5913120"/>
                </a:cubicBezTo>
                <a:cubicBezTo>
                  <a:pt x="2611855" y="5577840"/>
                  <a:pt x="4392395" y="4866640"/>
                  <a:pt x="3919955" y="4389120"/>
                </a:cubicBezTo>
                <a:cubicBezTo>
                  <a:pt x="3447515" y="3911600"/>
                  <a:pt x="732255" y="3677920"/>
                  <a:pt x="155675" y="3048000"/>
                </a:cubicBezTo>
                <a:cubicBezTo>
                  <a:pt x="-420905" y="2418080"/>
                  <a:pt x="816075" y="1348740"/>
                  <a:pt x="460475" y="609600"/>
                </a:cubicBezTo>
                <a:cubicBezTo>
                  <a:pt x="371575" y="424815"/>
                  <a:pt x="239813" y="246936"/>
                  <a:pt x="75903" y="74235"/>
                </a:cubicBezTo>
                <a:lnTo>
                  <a:pt x="1546" y="0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2"/>
              </a:gs>
            </a:gsLst>
          </a:gradFill>
          <a:ln>
            <a:noFill/>
          </a:ln>
          <a:effectLst>
            <a:outerShdw blurRad="38100" dist="50800" dir="5400000" algn="t" rotWithShape="0">
              <a:schemeClr val="accent6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E7EB40-15DA-AC39-4DED-8CDD1E559448}"/>
              </a:ext>
            </a:extLst>
          </p:cNvPr>
          <p:cNvSpPr txBox="1"/>
          <p:nvPr/>
        </p:nvSpPr>
        <p:spPr>
          <a:xfrm>
            <a:off x="-975360" y="2563503"/>
            <a:ext cx="13472160" cy="209288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0800">
              <a:bevelT h="63500"/>
            </a:sp3d>
          </a:bodyPr>
          <a:lstStyle/>
          <a:p>
            <a:pPr algn="ctr"/>
            <a:r>
              <a:rPr lang="en-US" sz="13000" b="1" spc="-300" dirty="0">
                <a:gradFill flip="none" rotWithShape="1">
                  <a:gsLst>
                    <a:gs pos="75000">
                      <a:srgbClr val="E65F0A"/>
                    </a:gs>
                    <a:gs pos="50000">
                      <a:srgbClr val="FFB446"/>
                    </a:gs>
                    <a:gs pos="25000">
                      <a:srgbClr val="FF8214"/>
                    </a:gs>
                    <a:gs pos="0">
                      <a:srgbClr val="2D2D2D"/>
                    </a:gs>
                    <a:gs pos="100000">
                      <a:srgbClr val="373737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FF8214">
                      <a:alpha val="30000"/>
                    </a:srgbClr>
                  </a:glow>
                  <a:outerShdw blurRad="101600" dist="50800" dir="5400000" algn="ctr" rotWithShape="0">
                    <a:schemeClr val="tx1">
                      <a:alpha val="70000"/>
                    </a:schemeClr>
                  </a:outerShdw>
                </a:effectLst>
                <a:latin typeface="Cooper Black" panose="0208090404030B020404" pitchFamily="18" charset="0"/>
              </a:rPr>
              <a:t>THANK YOU</a:t>
            </a:r>
            <a:endParaRPr lang="en-IN" sz="13000" b="1" spc="-300" dirty="0">
              <a:gradFill flip="none" rotWithShape="1">
                <a:gsLst>
                  <a:gs pos="75000">
                    <a:srgbClr val="E65F0A"/>
                  </a:gs>
                  <a:gs pos="50000">
                    <a:srgbClr val="FFB446"/>
                  </a:gs>
                  <a:gs pos="25000">
                    <a:srgbClr val="FF8214"/>
                  </a:gs>
                  <a:gs pos="0">
                    <a:srgbClr val="2D2D2D"/>
                  </a:gs>
                  <a:gs pos="100000">
                    <a:srgbClr val="373737"/>
                  </a:gs>
                </a:gsLst>
                <a:lin ang="5400000" scaled="1"/>
                <a:tileRect/>
              </a:gradFill>
              <a:effectLst>
                <a:glow rad="63500">
                  <a:srgbClr val="FF8214">
                    <a:alpha val="30000"/>
                  </a:srgbClr>
                </a:glow>
                <a:outerShdw blurRad="101600" dist="50800" dir="5400000" algn="ctr" rotWithShape="0">
                  <a:schemeClr val="tx1">
                    <a:alpha val="70000"/>
                  </a:schemeClr>
                </a:outerShdw>
              </a:effectLst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783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range Red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range Red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1035</TotalTime>
  <Words>1323</Words>
  <Application>Microsoft Office PowerPoint</Application>
  <PresentationFormat>Widescreen</PresentationFormat>
  <Paragraphs>312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Aptos</vt:lpstr>
      <vt:lpstr>Arial</vt:lpstr>
      <vt:lpstr>Arial Black</vt:lpstr>
      <vt:lpstr>Bauhaus 93</vt:lpstr>
      <vt:lpstr>Calibri</vt:lpstr>
      <vt:lpstr>Cooper Black</vt:lpstr>
      <vt:lpstr>Gadugi</vt:lpstr>
      <vt:lpstr>Montserrat ExtraBold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GOURAV</dc:creator>
  <cp:keywords/>
  <dc:description>generated using python-pptx</dc:description>
  <cp:lastModifiedBy>Gourav Mallick</cp:lastModifiedBy>
  <cp:revision>39</cp:revision>
  <dcterms:created xsi:type="dcterms:W3CDTF">2013-01-27T09:14:16Z</dcterms:created>
  <dcterms:modified xsi:type="dcterms:W3CDTF">2026-09-12T21:14:15Z</dcterms:modified>
  <cp:category/>
</cp:coreProperties>
</file>